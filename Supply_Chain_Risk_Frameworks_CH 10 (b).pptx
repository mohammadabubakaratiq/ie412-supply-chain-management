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979" r:id="rId1"/>
  </p:sldMasterIdLst>
  <p:notesMasterIdLst>
    <p:notesMasterId r:id="rId22"/>
  </p:notesMasterIdLst>
  <p:handoutMasterIdLst>
    <p:handoutMasterId r:id="rId23"/>
  </p:handoutMasterIdLst>
  <p:sldIdLst>
    <p:sldId id="2561" r:id="rId2"/>
    <p:sldId id="2562" r:id="rId3"/>
    <p:sldId id="2563" r:id="rId4"/>
    <p:sldId id="2564" r:id="rId5"/>
    <p:sldId id="258" r:id="rId6"/>
    <p:sldId id="2565" r:id="rId7"/>
    <p:sldId id="2566" r:id="rId8"/>
    <p:sldId id="2567" r:id="rId9"/>
    <p:sldId id="2568" r:id="rId10"/>
    <p:sldId id="2569" r:id="rId11"/>
    <p:sldId id="2570" r:id="rId12"/>
    <p:sldId id="2571" r:id="rId13"/>
    <p:sldId id="2572" r:id="rId14"/>
    <p:sldId id="2573" r:id="rId15"/>
    <p:sldId id="2579" r:id="rId16"/>
    <p:sldId id="2578" r:id="rId17"/>
    <p:sldId id="2574" r:id="rId18"/>
    <p:sldId id="2575" r:id="rId19"/>
    <p:sldId id="2576" r:id="rId20"/>
    <p:sldId id="25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naging Risk in Supply Chains: Frameworks, Strategies &amp; Case Studies" id="{B411068F-F5A5-4661-8DEA-9D180F51B439}">
          <p14:sldIdLst>
            <p14:sldId id="2561"/>
          </p14:sldIdLst>
        </p14:section>
        <p14:section name="Introduction to Supply Chain Risk" id="{5C8843E8-BEEB-4971-836E-405BFDA7D415}">
          <p14:sldIdLst>
            <p14:sldId id="2562"/>
            <p14:sldId id="2563"/>
          </p14:sldIdLst>
        </p14:section>
        <p14:section name="Sources of Risk in Supply Chains" id="{AD3C191C-23F4-4264-87CD-A1DD47B21F0F}">
          <p14:sldIdLst>
            <p14:sldId id="2564"/>
            <p14:sldId id="258"/>
            <p14:sldId id="2565"/>
          </p14:sldIdLst>
        </p14:section>
        <p14:section name="Risk Assessment and Numerical Examples" id="{20918F54-99E2-49CF-BF0D-8085108CDB2B}">
          <p14:sldIdLst>
            <p14:sldId id="2566"/>
            <p14:sldId id="2567"/>
          </p14:sldIdLst>
        </p14:section>
        <p14:section name="Risk Mitigation Strategies" id="{1286D644-4E95-4DD0-9625-AEF6D9F256A2}">
          <p14:sldIdLst>
            <p14:sldId id="2568"/>
            <p14:sldId id="2569"/>
          </p14:sldIdLst>
        </p14:section>
        <p14:section name="Seven-Stage Risk Management Process" id="{B7B21C08-20C8-4F2F-AE02-47FF7718CDD4}">
          <p14:sldIdLst>
            <p14:sldId id="2570"/>
            <p14:sldId id="2571"/>
          </p14:sldIdLst>
        </p14:section>
        <p14:section name="Building Supply Chain Resilience" id="{D766B6F1-0423-49CD-BC07-87B6316767B3}">
          <p14:sldIdLst>
            <p14:sldId id="2572"/>
            <p14:sldId id="2573"/>
            <p14:sldId id="2579"/>
            <p14:sldId id="2578"/>
          </p14:sldIdLst>
        </p14:section>
        <p14:section name="Case Studies and Lessons Learned" id="{D9CEE8E4-E585-4C88-8E3E-F3E7751B5D7B}">
          <p14:sldIdLst>
            <p14:sldId id="2574"/>
            <p14:sldId id="2575"/>
          </p14:sldIdLst>
        </p14:section>
        <p14:section name="Conclusion and Actionable Steps" id="{6D1D3419-BA2B-4BF5-A3E0-E6F2F07D55D1}">
          <p14:sldIdLst>
            <p14:sldId id="2576"/>
            <p14:sldId id="257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F4B59B-3AFB-4CE1-838E-47D18AB6D4DB}" v="2" dt="2026-01-07T18:20:01.3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45"/>
    <p:restoredTop sz="94668"/>
  </p:normalViewPr>
  <p:slideViewPr>
    <p:cSldViewPr snapToGrid="0" showGuides="1">
      <p:cViewPr varScale="1">
        <p:scale>
          <a:sx n="52" d="100"/>
          <a:sy n="52" d="100"/>
        </p:scale>
        <p:origin x="114" y="1332"/>
      </p:cViewPr>
      <p:guideLst>
        <p:guide orient="horz" pos="2160"/>
        <p:guide pos="3840"/>
      </p:guideLst>
    </p:cSldViewPr>
  </p:slideViewPr>
  <p:notesTextViewPr>
    <p:cViewPr>
      <p:scale>
        <a:sx n="1" d="1"/>
        <a:sy n="1" d="1"/>
      </p:scale>
      <p:origin x="0" y="0"/>
    </p:cViewPr>
  </p:notesTextViewPr>
  <p:sorterViewPr>
    <p:cViewPr>
      <p:scale>
        <a:sx n="120" d="100"/>
        <a:sy n="120" d="100"/>
      </p:scale>
      <p:origin x="0" y="0"/>
    </p:cViewPr>
  </p:sorter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1/31/2026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282182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Supply Chain Risk and Its Impact</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2704346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Supply chain risk refers to the potential for disruptions that can negatively impact the flow of goods, services, and information across the network. It is commonly expressed as Risk = Probability of Disruption × Impact. While many organizations focus on IT or internal processes, the most significant vulnerabilities often lie in the extended supply chain. Low-probability but high-impact events, such as natural disasters or factory shutdowns, can have catastrophic consequences. For example, a tornado in Jackson, Tennessee in 2003 severely damaged Procter &amp; Gamble’s sole North American Pringles factory, curtailing production of a $1 billion revenue product. The goal of risk management is to build operational resilience, enabling rapid recovery and continuity of service levels. Resilience requires proactive identification of vulnerabilities, scenario modeling, and contingency planning. Companies must recognize that strategic decisions, such as relocating production or consolidating suppliers, directly affect risk exposure. By integrating risk considerations into sourcing and design decisions, firms can mitigate disruptions and protect earnings streams.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2172051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Five Key Sources of Risk</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920018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Supply chain vulnerabilities arise from five interconnected sources: Supply Risk, Demand Risk, Process Risk, Control Risk, and Environmental Risk. Supply Risk includes dependence on single suppliers, global sourcing complexities, and poor supplier management. Demand Risk stems from volatility, demand amplification through the bullwhip effect, and parallel product interactions. Process Risk relates to internal bottlenecks, variability in manufacturing, and limited capacity. Control Risk occurs when internal policies distort demand signals, such as batching or safety stock rules, creating chaos effects. Environmental Risk encompasses external shocks like geopolitical instability, natural disasters, and regulatory changes. These risks often interact, amplifying disruptions. For instance, a single-source supplier located in a flood-prone region represents both supply and environmental risk. Mapping these sources helps firms audit vulnerabilities and prioritize mitigation strategies. A structured risk profile ensures management attention is focused on critical paths where failure would severely impact performance.</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14533186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Developing a Risk Profile and Using FMEA</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3768078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Creating a risk profile involves six steps: prioritizing earnings drivers, identifying critical infrastructure, locating vulnerabilities, modeling scenarios, developing responses, and monitoring the risk environment. Earnings drivers such as manufacturing or logistics must be mapped to understand their impact on profitability. Vulnerabilities often include bottlenecks, high concentration of suppliers, and limited alternatives. Scenario modeling, such as using a 'Wheel of Crises,' helps anticipate diverse disruptions. Failure Mode and Effect Analysis (FMEA) is a systematic tool for identifying critical nodes and links. It evaluates severity (S), occurrence (O), and detectability (D) to calculate a Risk Priority Number (RPN = S × O × D). For example, if S=4, O=3, D=4, RPN=48 (medium-high risk). Another case: S=5, O=2, D=5 yields RPN=50 (high risk). Numerical risk exposure can also be calculated: if probability=0.2 and impact=$5M, expected exposure=$1M. These metrics guide prioritization and resource allocation for mitigation strategies.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4814237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Redundancy vs Flexibility</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17812396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Risk mitigation strategies fall into two categories: redundancy and flexibility. Redundancy involves creating buffers such as excess inventory, backup IT systems, and long-term supplier contracts. While effective, these measures often carry high explicit and hidden costs, potentially reducing competitiveness. Flexibility, on the other hand, enhances agility and responsiveness without excessive cost. Examples include product design for agility through common components and delayed differentiation, transferable manufacturing practices, and lead-time reduction. Dynamic inventory planning and supply chain visibility tools like RFID and Supply Chain Event Management (SCEM) further strengthen resilience. Cross-training employees ensures operational continuity during disruptions. Flexible strategies not only mitigate risk but also improve competitive capability by enabling rapid adaptation to changing conditions. Companies should evaluate the cost-benefit trade-offs of redundancy versus flexibility using modeling tools to ensure proportional responses aligned with risk magnitude and likelihood.</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2316785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Framework for Managing Supply Chain Risk</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3019893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seven-stage process for managing supply chain risk includes: 1) Understand the supply chain by mapping upstream and downstream tiers beyond Tier-1 suppliers; 2) Improve the supply chain by reducing complexity and variability using Six Sigma and DMAIC methodologies; 3) Identify critical paths—nodes and links whose failure would severely impact performance—using tools like FMEA; 4) Manage critical paths through contingency planning, capacity adjustments, and strategic inventory; 5) Improve network visibility using RFID, SCEM, and satellite tracking to detect disruptions early; 6) Establish a supply chain continuity team with cross-functional expertise and a risk register; 7) Collaborate with suppliers and customers to align processes and share risk management practices. This iterative cycle fosters resilience and ensures that risk considerations are integrated into strategic decisions, such as sourcing and facility location.</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190322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Elements of Resilience</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1013508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Supply chain resilience is the ability to return to a desired state after disruption. It requires agility, visibility, and acceleration—the capacity to ramp up or down quickly. Slack at critical points, such as bottlenecks, ensures flexibility during shocks. Early access to information and collaborative intelligence across the network are essential for proactive responses. Technologies like RFID and satellite tracking enhance transparency, while collaborative planning with suppliers and customers builds trust and shared responsibility. Governance plays a vital role: board-level oversight, risk registers, and real options thinking embed resilience into organizational culture. Resilient supply chains balance efficiency with redundancy, ensuring that strategic decisions—such as relocating facilities or consolidating suppliers—are evaluated for their impact on risk profiles. By integrating resilience principles into design and operations, firms can maintain continuity and competitive advantage even in volatile environments.</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3352122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Mattel, Toyota, and Nokia vs Ericsson</a:t>
            </a:r>
          </a:p>
        </p:txBody>
      </p:sp>
      <p:sp>
        <p:nvSpPr>
          <p:cNvPr id="4" name="Slide Number Placeholder 3"/>
          <p:cNvSpPr>
            <a:spLocks noGrp="1"/>
          </p:cNvSpPr>
          <p:nvPr>
            <p:ph type="sldNum" sz="quarter" idx="5"/>
          </p:nvPr>
        </p:nvSpPr>
        <p:spPr/>
        <p:txBody>
          <a:bodyPr/>
          <a:lstStyle/>
          <a:p>
            <a:fld id="{38EFF46E-6B43-41F9-9272-B566D03A251C}" type="slidenum">
              <a:rPr lang="en-US" smtClean="0"/>
              <a:t>17</a:t>
            </a:fld>
            <a:endParaRPr lang="en-US"/>
          </a:p>
        </p:txBody>
      </p:sp>
    </p:spTree>
    <p:extLst>
      <p:ext uri="{BB962C8B-B14F-4D97-AF65-F5344CB8AC3E}">
        <p14:creationId xmlns:p14="http://schemas.microsoft.com/office/powerpoint/2010/main" val="4146274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Real-world cases illustrate the consequences of inadequate risk management. Mattel faced a $110 million recall in 2007 due to lead paint contamination originating from a second-tier supplier, highlighting the need for deeper tier visibility. Toyota’s 2009–2010 global recalls, caused by throttle pedal defects, revealed vulnerabilities from over-reliance on tiered suppliers and underscored the importance of balancing lean practices with risk control. Nokia and Ericsson both experienced supply disruptions in 2000 when a semiconductor factory fire halted production. Nokia’s superior event management and visibility enabled rapid recovery through alternative sourcing, while Ericsson’s delayed response led to significant revenue loss and eventual exit from mobile phone manufacturing. These cases emphasize proactive risk mapping, collaborative relationships, and investment in visibility tools as critical enablers of resilience.</a:t>
            </a:r>
          </a:p>
        </p:txBody>
      </p:sp>
      <p:sp>
        <p:nvSpPr>
          <p:cNvPr id="4" name="Slide Number Placeholder 3"/>
          <p:cNvSpPr>
            <a:spLocks noGrp="1"/>
          </p:cNvSpPr>
          <p:nvPr>
            <p:ph type="sldNum" sz="quarter" idx="5"/>
          </p:nvPr>
        </p:nvSpPr>
        <p:spPr/>
        <p:txBody>
          <a:bodyPr/>
          <a:lstStyle/>
          <a:p>
            <a:fld id="{38EFF46E-6B43-41F9-9272-B566D03A251C}" type="slidenum">
              <a:rPr lang="en-US" smtClean="0"/>
              <a:t>18</a:t>
            </a:fld>
            <a:endParaRPr lang="en-US"/>
          </a:p>
        </p:txBody>
      </p:sp>
    </p:spTree>
    <p:extLst>
      <p:ext uri="{BB962C8B-B14F-4D97-AF65-F5344CB8AC3E}">
        <p14:creationId xmlns:p14="http://schemas.microsoft.com/office/powerpoint/2010/main" val="15907810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Takeaways for Implementation</a:t>
            </a:r>
          </a:p>
        </p:txBody>
      </p:sp>
      <p:sp>
        <p:nvSpPr>
          <p:cNvPr id="4" name="Slide Number Placeholder 3"/>
          <p:cNvSpPr>
            <a:spLocks noGrp="1"/>
          </p:cNvSpPr>
          <p:nvPr>
            <p:ph type="sldNum" sz="quarter" idx="5"/>
          </p:nvPr>
        </p:nvSpPr>
        <p:spPr/>
        <p:txBody>
          <a:bodyPr/>
          <a:lstStyle/>
          <a:p>
            <a:fld id="{38EFF46E-6B43-41F9-9272-B566D03A251C}" type="slidenum">
              <a:rPr lang="en-US" smtClean="0"/>
              <a:t>19</a:t>
            </a:fld>
            <a:endParaRPr lang="en-US"/>
          </a:p>
        </p:txBody>
      </p:sp>
    </p:spTree>
    <p:extLst>
      <p:ext uri="{BB962C8B-B14F-4D97-AF65-F5344CB8AC3E}">
        <p14:creationId xmlns:p14="http://schemas.microsoft.com/office/powerpoint/2010/main" val="3977550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effectively manage supply chain risk, organizations should establish cross-functional continuity teams and maintain a dynamic risk register. Quarterly scenario drills involving key partners enhance preparedness. Critical paths must be instrumented with monitoring tools, and FMEA should be applied to nodes and links to prioritize mitigation efforts. Risk considerations should be integrated into sourcing and design decisions to prevent vulnerabilities from escalating. Collaborative planning with suppliers and customers fosters shared responsibility and transparency. Finally, leveraging technology for visibility and agility ensures that firms can respond swiftly to disruptions, safeguarding earnings and reputation. By embedding resilience into strategy and operations, companies can transform risk management from a defensive posture into a source of competitive advantage.</a:t>
            </a:r>
          </a:p>
        </p:txBody>
      </p:sp>
      <p:sp>
        <p:nvSpPr>
          <p:cNvPr id="4" name="Slide Number Placeholder 3"/>
          <p:cNvSpPr>
            <a:spLocks noGrp="1"/>
          </p:cNvSpPr>
          <p:nvPr>
            <p:ph type="sldNum" sz="quarter" idx="5"/>
          </p:nvPr>
        </p:nvSpPr>
        <p:spPr/>
        <p:txBody>
          <a:bodyPr/>
          <a:lstStyle/>
          <a:p>
            <a:fld id="{38EFF46E-6B43-41F9-9272-B566D03A251C}" type="slidenum">
              <a:rPr lang="en-US" smtClean="0"/>
              <a:t>20</a:t>
            </a:fld>
            <a:endParaRPr lang="en-US"/>
          </a:p>
        </p:txBody>
      </p:sp>
    </p:spTree>
    <p:extLst>
      <p:ext uri="{BB962C8B-B14F-4D97-AF65-F5344CB8AC3E}">
        <p14:creationId xmlns:p14="http://schemas.microsoft.com/office/powerpoint/2010/main" val="15766292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close up of a colorful background&#10;&#10;AI-generated content may be incorrect.">
            <a:extLst>
              <a:ext uri="{FF2B5EF4-FFF2-40B4-BE49-F238E27FC236}">
                <a16:creationId xmlns:a16="http://schemas.microsoft.com/office/drawing/2014/main" id="{C9D2B7C3-93C4-3719-D2A9-FBE9AFC2AC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2054227"/>
            <a:ext cx="8229600" cy="4727574"/>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457200"/>
            <a:ext cx="3424518" cy="1139825"/>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0"/>
            <a:ext cx="1295400" cy="381000"/>
          </a:xfrm>
        </p:spPr>
        <p:txBody>
          <a:bodyPr/>
          <a:lstStyle/>
          <a:p>
            <a:fld id="{B3CFBE15-E4BE-4B42-AEEE-ED6C6B9CFCE2}" type="datetime1">
              <a:rPr lang="en-US" smtClean="0"/>
              <a:t>1/31/2026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5788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457200" y="490128"/>
            <a:ext cx="11277599" cy="914400"/>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295400" cy="381000"/>
          </a:xfrm>
        </p:spPr>
        <p:txBody>
          <a:bodyPr/>
          <a:lstStyle/>
          <a:p>
            <a:fld id="{94040C0B-3638-F744-9F98-D66CEC428329}" type="datetime1">
              <a:rPr lang="en-US" smtClean="0"/>
              <a:t>1/31/2026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457200" y="1861728"/>
            <a:ext cx="11277599" cy="4539072"/>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02290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5031BA-FE29-1272-03FA-2B84A99174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5257800"/>
            <a:ext cx="11277600" cy="685800"/>
          </a:xfrm>
          <a:prstGeom prst="rect">
            <a:avLst/>
          </a:prstGeom>
        </p:spPr>
        <p:txBody>
          <a:bodyPr vert="horz" lIns="91440" tIns="45720" rIns="91440" bIns="45720" rtlCol="0" anchor="t">
            <a:normAutofit/>
          </a:bodyPr>
          <a:lstStyle>
            <a:lvl1pPr>
              <a:defRPr lang="en-US" sz="6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1" y="6019799"/>
            <a:ext cx="11277598" cy="38100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9EF7764-3766-AD43-917F-3181D2483C36}" type="datetime1">
              <a:rPr lang="en-US" smtClean="0"/>
              <a:t>1/31/2026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10" name="Picture Placeholder 4">
            <a:extLst>
              <a:ext uri="{FF2B5EF4-FFF2-40B4-BE49-F238E27FC236}">
                <a16:creationId xmlns:a16="http://schemas.microsoft.com/office/drawing/2014/main" id="{7071A80C-9405-B736-DA8E-7C6B87617DC7}"/>
              </a:ext>
            </a:extLst>
          </p:cNvPr>
          <p:cNvSpPr>
            <a:spLocks noGrp="1"/>
          </p:cNvSpPr>
          <p:nvPr>
            <p:ph type="pic" sz="quarter" idx="17" hasCustomPrompt="1"/>
          </p:nvPr>
        </p:nvSpPr>
        <p:spPr>
          <a:xfrm>
            <a:off x="457200" y="457199"/>
            <a:ext cx="11274552" cy="4572001"/>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546071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E88507-42ED-EBB5-0C22-CA3A46666A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52" y="3175"/>
            <a:ext cx="12186353" cy="6854823"/>
          </a:xfrm>
          <a:custGeom>
            <a:avLst/>
            <a:gdLst>
              <a:gd name="csX0" fmla="*/ 0 w 12186355"/>
              <a:gd name="csY0" fmla="*/ 0 h 6854824"/>
              <a:gd name="csX1" fmla="*/ 12186355 w 12186355"/>
              <a:gd name="csY1" fmla="*/ 0 h 6854824"/>
              <a:gd name="csX2" fmla="*/ 12186355 w 12186355"/>
              <a:gd name="csY2" fmla="*/ 454025 h 6854824"/>
              <a:gd name="csX3" fmla="*/ 4798004 w 12186355"/>
              <a:gd name="csY3" fmla="*/ 454025 h 6854824"/>
              <a:gd name="csX4" fmla="*/ 4798004 w 12186355"/>
              <a:gd name="csY4" fmla="*/ 6397625 h 6854824"/>
              <a:gd name="csX5" fmla="*/ 12186355 w 12186355"/>
              <a:gd name="csY5" fmla="*/ 6397625 h 6854824"/>
              <a:gd name="csX6" fmla="*/ 12186355 w 12186355"/>
              <a:gd name="csY6" fmla="*/ 6854824 h 6854824"/>
              <a:gd name="csX7" fmla="*/ 0 w 12186355"/>
              <a:gd name="csY7" fmla="*/ 6854824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5" h="6854824">
                <a:moveTo>
                  <a:pt x="0" y="0"/>
                </a:moveTo>
                <a:lnTo>
                  <a:pt x="12186355" y="0"/>
                </a:lnTo>
                <a:lnTo>
                  <a:pt x="12186355" y="454025"/>
                </a:lnTo>
                <a:lnTo>
                  <a:pt x="4798004" y="454025"/>
                </a:lnTo>
                <a:lnTo>
                  <a:pt x="4798004" y="6397625"/>
                </a:lnTo>
                <a:lnTo>
                  <a:pt x="12186355" y="6397625"/>
                </a:lnTo>
                <a:lnTo>
                  <a:pt x="1218635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3886198" cy="4513974"/>
          </a:xfrm>
          <a:prstGeom prst="rect">
            <a:avLst/>
          </a:prstGeo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25200"/>
            <a:ext cx="3886200" cy="975600"/>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76200" y="76201"/>
            <a:ext cx="1295400" cy="380999"/>
          </a:xfrm>
        </p:spPr>
        <p:txBody>
          <a:bodyPr/>
          <a:lstStyle/>
          <a:p>
            <a:fld id="{BD2E1884-4CA3-F14A-A3FE-9D94D32D34BF}" type="datetime1">
              <a:rPr lang="en-US" smtClean="0"/>
              <a:t>1/31/2026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096000" y="76202"/>
            <a:ext cx="6019800" cy="365124"/>
          </a:xfrm>
        </p:spPr>
        <p:txBody>
          <a:bodyPr/>
          <a:lstStyle/>
          <a:p>
            <a:r>
              <a:rPr lang="en-US"/>
              <a:t>Sample Footer Text</a:t>
            </a:r>
          </a:p>
        </p:txBody>
      </p:sp>
      <p:sp>
        <p:nvSpPr>
          <p:cNvPr id="5" name="Picture Placeholder 10">
            <a:extLst>
              <a:ext uri="{FF2B5EF4-FFF2-40B4-BE49-F238E27FC236}">
                <a16:creationId xmlns:a16="http://schemas.microsoft.com/office/drawing/2014/main" id="{9B516699-87B0-CAF3-CAD8-AA40FF750A2A}"/>
              </a:ext>
            </a:extLst>
          </p:cNvPr>
          <p:cNvSpPr>
            <a:spLocks noGrp="1"/>
          </p:cNvSpPr>
          <p:nvPr>
            <p:ph type="pic" sz="quarter" idx="13" hasCustomPrompt="1"/>
          </p:nvPr>
        </p:nvSpPr>
        <p:spPr>
          <a:xfrm>
            <a:off x="4794950" y="457200"/>
            <a:ext cx="7388352"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820400" y="6416675"/>
            <a:ext cx="12954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1245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FA396DB-37C9-E6F8-96EC-A98E709036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0 w 12186353"/>
              <a:gd name="csY0" fmla="*/ 6854824 h 6854824"/>
              <a:gd name="csX1" fmla="*/ 12186353 w 12186353"/>
              <a:gd name="csY1" fmla="*/ 6854824 h 6854824"/>
              <a:gd name="csX2" fmla="*/ 12186353 w 12186353"/>
              <a:gd name="csY2" fmla="*/ 0 h 6854824"/>
              <a:gd name="csX3" fmla="*/ 0 w 12186353"/>
              <a:gd name="csY3" fmla="*/ 0 h 6854824"/>
              <a:gd name="csX4" fmla="*/ 0 w 12186353"/>
              <a:gd name="csY4" fmla="*/ 457198 h 6854824"/>
              <a:gd name="csX5" fmla="*/ 7418624 w 12186353"/>
              <a:gd name="csY5" fmla="*/ 457198 h 6854824"/>
              <a:gd name="csX6" fmla="*/ 7418624 w 12186353"/>
              <a:gd name="csY6" fmla="*/ 6400798 h 6854824"/>
              <a:gd name="csX7" fmla="*/ 0 w 12186353"/>
              <a:gd name="csY7" fmla="*/ 6400798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4">
                <a:moveTo>
                  <a:pt x="0" y="6854824"/>
                </a:moveTo>
                <a:lnTo>
                  <a:pt x="12186353" y="6854824"/>
                </a:lnTo>
                <a:lnTo>
                  <a:pt x="12186353" y="0"/>
                </a:lnTo>
                <a:lnTo>
                  <a:pt x="0" y="0"/>
                </a:lnTo>
                <a:lnTo>
                  <a:pt x="0" y="457198"/>
                </a:lnTo>
                <a:lnTo>
                  <a:pt x="7418624" y="457198"/>
                </a:lnTo>
                <a:lnTo>
                  <a:pt x="7418624" y="6400798"/>
                </a:lnTo>
                <a:lnTo>
                  <a:pt x="0" y="6400798"/>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18702" y="1856835"/>
            <a:ext cx="3816098" cy="3048276"/>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2" y="5362310"/>
            <a:ext cx="3816098" cy="1026767"/>
          </a:xfrm>
        </p:spPr>
        <p:txBody>
          <a:bodyPr vert="horz" lIns="91440" tIns="45720" rIns="91440" bIns="45720" rtlCol="0">
            <a:normAutofit/>
          </a:bodyPr>
          <a:lstStyle>
            <a:lvl1pPr marL="0" indent="0">
              <a:lnSpc>
                <a:spcPct val="100000"/>
              </a:lnSpc>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DCB9363-2EBD-E747-A181-1D3A08C65245}" type="datetime1">
              <a:rPr lang="en-US" smtClean="0"/>
              <a:t>1/31/2026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80999"/>
          </a:xfrm>
        </p:spPr>
        <p:txBody>
          <a:bodyPr/>
          <a:lstStyle/>
          <a:p>
            <a:r>
              <a:rPr lang="en-US"/>
              <a:t>Sample Footer Text</a:t>
            </a:r>
          </a:p>
        </p:txBody>
      </p:sp>
      <p:sp>
        <p:nvSpPr>
          <p:cNvPr id="9" name="Picture Placeholder 13">
            <a:extLst>
              <a:ext uri="{FF2B5EF4-FFF2-40B4-BE49-F238E27FC236}">
                <a16:creationId xmlns:a16="http://schemas.microsoft.com/office/drawing/2014/main" id="{29ACD8CA-973C-C07A-B4B5-1C33BD62674E}"/>
              </a:ext>
            </a:extLst>
          </p:cNvPr>
          <p:cNvSpPr>
            <a:spLocks noGrp="1"/>
          </p:cNvSpPr>
          <p:nvPr>
            <p:ph type="pic" sz="quarter" idx="14" hasCustomPrompt="1"/>
          </p:nvPr>
        </p:nvSpPr>
        <p:spPr>
          <a:xfrm>
            <a:off x="1" y="457200"/>
            <a:ext cx="742427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456659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1CBD8CA-F53F-CFB6-D102-6C4CA833B8E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8229600" cy="5414681"/>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943599"/>
            <a:ext cx="10896600" cy="461681"/>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87593"/>
            <a:ext cx="914400" cy="365125"/>
          </a:xfrm>
        </p:spPr>
        <p:txBody>
          <a:bodyPr/>
          <a:lstStyle/>
          <a:p>
            <a:fld id="{A43625EB-9CE7-FE4A-962B-ADA6590F06B0}" type="datetime1">
              <a:rPr lang="en-US" smtClean="0"/>
              <a:t>1/31/2026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310395" y="87593"/>
            <a:ext cx="2805405"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05803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17588" y="457200"/>
            <a:ext cx="8723871" cy="4419600"/>
          </a:xfrm>
          <a:prstGeom prst="rect">
            <a:avLst/>
          </a:prstGeom>
        </p:spPr>
        <p:txBody>
          <a:bodyPr anchor="b">
            <a:normAutofit/>
          </a:bodyPr>
          <a:lstStyle>
            <a:lvl1pPr algn="ctr">
              <a:defRPr sz="8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7100" y="5483226"/>
            <a:ext cx="5257800" cy="917574"/>
          </a:xfrm>
        </p:spPr>
        <p:txBody>
          <a:bodyPr anchor="b">
            <a:normAutofit/>
          </a:bodyPr>
          <a:lstStyle>
            <a:lvl1pPr marL="0" indent="0" algn="ct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8E0F305-9E38-2F43-A154-0A13A54C557F}" type="datetime1">
              <a:rPr lang="en-US" smtClean="0"/>
              <a:t>1/31/2026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62696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9" name="Title 8">
            <a:extLst>
              <a:ext uri="{FF2B5EF4-FFF2-40B4-BE49-F238E27FC236}">
                <a16:creationId xmlns:a16="http://schemas.microsoft.com/office/drawing/2014/main" id="{DDDC27D1-1506-B7FD-BBD8-570878A444FC}"/>
              </a:ext>
            </a:extLst>
          </p:cNvPr>
          <p:cNvSpPr>
            <a:spLocks noGrp="1"/>
          </p:cNvSpPr>
          <p:nvPr>
            <p:ph type="title"/>
          </p:nvPr>
        </p:nvSpPr>
        <p:spPr>
          <a:xfrm>
            <a:off x="457200" y="457200"/>
            <a:ext cx="7380952" cy="6277097"/>
          </a:xfrm>
        </p:spPr>
        <p:txBody>
          <a:bodyPr anchor="b"/>
          <a:lstStyle>
            <a:lvl1pP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95354" y="457200"/>
            <a:ext cx="3439445" cy="2971800"/>
          </a:xfrm>
        </p:spPr>
        <p:txBody>
          <a:bodyPr anchor="t">
            <a:normAutofit/>
          </a:bodyPr>
          <a:lstStyle>
            <a:lvl1pPr marL="0" indent="0" algn="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9258CAE-C0F2-B346-BD4B-417B70F2F6EB}" type="datetime1">
              <a:rPr lang="en-US" smtClean="0"/>
              <a:t>1/31/2026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070324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2BFDAB-1042-6B32-CEEF-4E400B77CFC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3174"/>
            <a:ext cx="12192002" cy="6854824"/>
          </a:xfrm>
          <a:custGeom>
            <a:avLst/>
            <a:gdLst>
              <a:gd name="csX0" fmla="*/ 0 w 5650525"/>
              <a:gd name="csY0" fmla="*/ 0 h 6854824"/>
              <a:gd name="csX1" fmla="*/ 5650525 w 5650525"/>
              <a:gd name="csY1" fmla="*/ 0 h 6854824"/>
              <a:gd name="csX2" fmla="*/ 5650525 w 5650525"/>
              <a:gd name="csY2" fmla="*/ 6854824 h 6854824"/>
              <a:gd name="csX3" fmla="*/ 0 w 5650525"/>
              <a:gd name="csY3" fmla="*/ 6854824 h 6854824"/>
            </a:gdLst>
            <a:ahLst/>
            <a:cxnLst>
              <a:cxn ang="0">
                <a:pos x="csX0" y="csY0"/>
              </a:cxn>
              <a:cxn ang="0">
                <a:pos x="csX1" y="csY1"/>
              </a:cxn>
              <a:cxn ang="0">
                <a:pos x="csX2" y="csY2"/>
              </a:cxn>
              <a:cxn ang="0">
                <a:pos x="csX3" y="csY3"/>
              </a:cxn>
            </a:cxnLst>
            <a:rect l="l" t="t" r="r" b="b"/>
            <a:pathLst>
              <a:path w="5650525" h="6854824">
                <a:moveTo>
                  <a:pt x="0" y="0"/>
                </a:moveTo>
                <a:lnTo>
                  <a:pt x="5650525" y="0"/>
                </a:lnTo>
                <a:lnTo>
                  <a:pt x="565052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7845553"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51EF5BDB-72C5-6C45-B365-DB2A3AA7E4EB}" type="datetime1">
              <a:rPr lang="en-US" smtClean="0"/>
              <a:t>1/31/2026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782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515063-D727-8995-60D3-02623A7C2A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9982201"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FF6B260B-9C30-8041-A127-55431CED219C}" type="datetime1">
              <a:rPr lang="en-US" smtClean="0"/>
              <a:t>1/31/2026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93427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E223EA-E781-514C-FE24-98349C5AF9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6386732"/>
              <a:gd name="csY0" fmla="*/ 0 h 6858000"/>
              <a:gd name="csX1" fmla="*/ 6386732 w 6386732"/>
              <a:gd name="csY1" fmla="*/ 0 h 6858000"/>
              <a:gd name="csX2" fmla="*/ 6386732 w 6386732"/>
              <a:gd name="csY2" fmla="*/ 6858000 h 6858000"/>
              <a:gd name="csX3" fmla="*/ 0 w 6386732"/>
              <a:gd name="csY3" fmla="*/ 6858000 h 6858000"/>
            </a:gdLst>
            <a:ahLst/>
            <a:cxnLst>
              <a:cxn ang="0">
                <a:pos x="csX0" y="csY0"/>
              </a:cxn>
              <a:cxn ang="0">
                <a:pos x="csX1" y="csY1"/>
              </a:cxn>
              <a:cxn ang="0">
                <a:pos x="csX2" y="csY2"/>
              </a:cxn>
              <a:cxn ang="0">
                <a:pos x="csX3" y="csY3"/>
              </a:cxn>
            </a:cxnLst>
            <a:rect l="l" t="t" r="r" b="b"/>
            <a:pathLst>
              <a:path w="6386732" h="6858000">
                <a:moveTo>
                  <a:pt x="0" y="0"/>
                </a:moveTo>
                <a:lnTo>
                  <a:pt x="6386732" y="0"/>
                </a:lnTo>
                <a:lnTo>
                  <a:pt x="6386732"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934200" y="457200"/>
            <a:ext cx="4800600" cy="2540756"/>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63FFE14-963B-F240-A047-D4733954729E}" type="datetime1">
              <a:rPr lang="en-US" smtClean="0"/>
              <a:t>1/31/2026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934200" y="3455158"/>
            <a:ext cx="4800600"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95338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6842E55-F2D0-924E-CEFB-721E6B52AAD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8718468" cy="2540756"/>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EC70E42-D83C-0945-8790-6453F9081E20}" type="datetime1">
              <a:rPr lang="en-US" smtClean="0"/>
              <a:t>1/31/2026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8718468"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52454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EFDED5-938A-286B-8D7B-122F48C83F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457200 h 6858000"/>
              <a:gd name="csX3" fmla="*/ 5715000 w 12192000"/>
              <a:gd name="csY3" fmla="*/ 457200 h 6858000"/>
              <a:gd name="csX4" fmla="*/ 5715000 w 12192000"/>
              <a:gd name="csY4" fmla="*/ 6400800 h 6858000"/>
              <a:gd name="csX5" fmla="*/ 12192000 w 12192000"/>
              <a:gd name="csY5" fmla="*/ 640080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0" y="0"/>
                </a:moveTo>
                <a:lnTo>
                  <a:pt x="12192000" y="0"/>
                </a:lnTo>
                <a:lnTo>
                  <a:pt x="12192000" y="457200"/>
                </a:lnTo>
                <a:lnTo>
                  <a:pt x="5715000" y="457200"/>
                </a:lnTo>
                <a:lnTo>
                  <a:pt x="5715000" y="6400800"/>
                </a:lnTo>
                <a:lnTo>
                  <a:pt x="12192000" y="6400800"/>
                </a:lnTo>
                <a:lnTo>
                  <a:pt x="12192000"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4800600" cy="2540758"/>
          </a:xfrm>
          <a:prstGeom prst="rect">
            <a:avLst/>
          </a:prstGeom>
        </p:spPr>
        <p:txBody>
          <a:bodyPr anchor="t">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BC14B53C-24D5-7E4A-A014-94F398D5C635}" type="datetime1">
              <a:rPr lang="en-US" smtClean="0"/>
              <a:t>1/31/2026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4800601" cy="2945642"/>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9">
            <a:extLst>
              <a:ext uri="{FF2B5EF4-FFF2-40B4-BE49-F238E27FC236}">
                <a16:creationId xmlns:a16="http://schemas.microsoft.com/office/drawing/2014/main" id="{CF711452-E8CD-4198-878F-62016D1DDAAE}"/>
              </a:ext>
            </a:extLst>
          </p:cNvPr>
          <p:cNvSpPr>
            <a:spLocks noGrp="1"/>
          </p:cNvSpPr>
          <p:nvPr>
            <p:ph type="pic" sz="quarter" idx="14" hasCustomPrompt="1"/>
          </p:nvPr>
        </p:nvSpPr>
        <p:spPr>
          <a:xfrm>
            <a:off x="5715000" y="457200"/>
            <a:ext cx="6480048" cy="5943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a:defRPr/>
            </a:lvl1pPr>
          </a:lstStyle>
          <a:p>
            <a:r>
              <a:rPr lang="en-US" dirty="0"/>
              <a:t>   </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40891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04AEF0-FD49-9901-2650-A660E32BBD0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flipV="1">
            <a:off x="5649" y="3174"/>
            <a:ext cx="12186352" cy="6854823"/>
          </a:xfrm>
          <a:prstGeom prst="rect">
            <a:avLst/>
          </a:prstGeom>
        </p:spPr>
      </p:pic>
      <p:sp>
        <p:nvSpPr>
          <p:cNvPr id="9" name="Title 8">
            <a:extLst>
              <a:ext uri="{FF2B5EF4-FFF2-40B4-BE49-F238E27FC236}">
                <a16:creationId xmlns:a16="http://schemas.microsoft.com/office/drawing/2014/main" id="{1559CC2E-67E0-CD45-1923-3D29474D2A5B}"/>
              </a:ext>
            </a:extLst>
          </p:cNvPr>
          <p:cNvSpPr>
            <a:spLocks noGrp="1"/>
          </p:cNvSpPr>
          <p:nvPr>
            <p:ph type="title"/>
          </p:nvPr>
        </p:nvSpPr>
        <p:spPr>
          <a:xfrm>
            <a:off x="6934200" y="510298"/>
            <a:ext cx="4800600" cy="3381766"/>
          </a:xfr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123D06D-70B8-D14B-A67C-9271374366C3}" type="datetime1">
              <a:rPr lang="en-US" smtClean="0"/>
              <a:t>1/31/2026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1" name="Content Placeholder 11">
            <a:extLst>
              <a:ext uri="{FF2B5EF4-FFF2-40B4-BE49-F238E27FC236}">
                <a16:creationId xmlns:a16="http://schemas.microsoft.com/office/drawing/2014/main" id="{7EBA0937-B41B-914E-2AAC-46E2E3534AD2}"/>
              </a:ext>
            </a:extLst>
          </p:cNvPr>
          <p:cNvSpPr>
            <a:spLocks noGrp="1"/>
          </p:cNvSpPr>
          <p:nvPr>
            <p:ph sz="quarter" idx="15"/>
          </p:nvPr>
        </p:nvSpPr>
        <p:spPr>
          <a:xfrm>
            <a:off x="6934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37540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C589F9-B5E9-4B33-8105-9AC2FFA5989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8" name="Title 7">
            <a:extLst>
              <a:ext uri="{FF2B5EF4-FFF2-40B4-BE49-F238E27FC236}">
                <a16:creationId xmlns:a16="http://schemas.microsoft.com/office/drawing/2014/main" id="{CB78262B-02D6-47C9-67D0-07D0F3357461}"/>
              </a:ext>
            </a:extLst>
          </p:cNvPr>
          <p:cNvSpPr>
            <a:spLocks noGrp="1"/>
          </p:cNvSpPr>
          <p:nvPr>
            <p:ph type="title"/>
          </p:nvPr>
        </p:nvSpPr>
        <p:spPr>
          <a:xfrm>
            <a:off x="457200" y="908537"/>
            <a:ext cx="4800600" cy="2983527"/>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5AE1D74-C13D-F14A-9B9E-EB7933559C88}" type="datetime1">
              <a:rPr lang="en-US" smtClean="0"/>
              <a:t>1/31/2026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2" name="Content Placeholder 11">
            <a:extLst>
              <a:ext uri="{FF2B5EF4-FFF2-40B4-BE49-F238E27FC236}">
                <a16:creationId xmlns:a16="http://schemas.microsoft.com/office/drawing/2014/main" id="{2DBB5A5D-0276-D53B-63DA-FE8A52528AC6}"/>
              </a:ext>
            </a:extLst>
          </p:cNvPr>
          <p:cNvSpPr>
            <a:spLocks noGrp="1"/>
          </p:cNvSpPr>
          <p:nvPr>
            <p:ph sz="quarter" idx="15"/>
          </p:nvPr>
        </p:nvSpPr>
        <p:spPr>
          <a:xfrm>
            <a:off x="457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52501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84CEF6-557E-9804-CC9A-89809A5FF7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600200"/>
            <a:ext cx="3657600" cy="3657600"/>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4FB7707-CCB1-0246-9925-E5DB223369A7}" type="datetime1">
              <a:rPr lang="en-US" smtClean="0"/>
              <a:t>1/31/2026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9" name="Content Placeholder 7">
            <a:extLst>
              <a:ext uri="{FF2B5EF4-FFF2-40B4-BE49-F238E27FC236}">
                <a16:creationId xmlns:a16="http://schemas.microsoft.com/office/drawing/2014/main" id="{847EA967-03AF-58FD-4A3C-C4F2DD0449F3}"/>
              </a:ext>
            </a:extLst>
          </p:cNvPr>
          <p:cNvSpPr>
            <a:spLocks noGrp="1"/>
          </p:cNvSpPr>
          <p:nvPr>
            <p:ph sz="quarter" idx="14"/>
          </p:nvPr>
        </p:nvSpPr>
        <p:spPr>
          <a:xfrm>
            <a:off x="5105400" y="1600200"/>
            <a:ext cx="5565663" cy="3657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26907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BAAE26-8B0A-A488-121D-8BF5642E9046}"/>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AE76B46A-8201-CC4A-8088-50255B4B9D0D}" type="datetime1">
              <a:rPr lang="en-US" smtClean="0"/>
              <a:t>1/31/2026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05400" y="1386993"/>
            <a:ext cx="6629400" cy="4083579"/>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481966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960BFB7-1A46-3D6C-10AE-175CE77B8EBC}"/>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F2D9860-67F8-974D-8794-2C5A1B3DA504}" type="datetime1">
              <a:rPr lang="en-US" smtClean="0"/>
              <a:t>1/31/2026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05400" y="1050111"/>
            <a:ext cx="6629400" cy="4940661"/>
          </a:xfrm>
        </p:spPr>
        <p:txBody>
          <a:bodyPr anchor="ct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91535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DB91743-0D30-2350-EB44-06EFA20D93F8}"/>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8351A969-2D26-4F49-AF79-EF4D76632F71}" type="datetime1">
              <a:rPr lang="en-US" smtClean="0"/>
              <a:t>1/31/2026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7">
            <a:extLst>
              <a:ext uri="{FF2B5EF4-FFF2-40B4-BE49-F238E27FC236}">
                <a16:creationId xmlns:a16="http://schemas.microsoft.com/office/drawing/2014/main" id="{02E3AAFD-6A60-1D0B-28FF-0B5CB92D6A3C}"/>
              </a:ext>
            </a:extLst>
          </p:cNvPr>
          <p:cNvSpPr>
            <a:spLocks noGrp="1"/>
          </p:cNvSpPr>
          <p:nvPr>
            <p:ph sz="quarter" idx="14"/>
          </p:nvPr>
        </p:nvSpPr>
        <p:spPr>
          <a:xfrm>
            <a:off x="5105400" y="457200"/>
            <a:ext cx="6629400" cy="5943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326549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D313C0D-237C-145D-6D99-0704931ED3D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3827047 w 12186352"/>
              <a:gd name="csY3" fmla="*/ 454026 h 6854823"/>
              <a:gd name="csX4" fmla="*/ 3827047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3827047" y="454026"/>
                </a:lnTo>
                <a:lnTo>
                  <a:pt x="3827047"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2102" y="457200"/>
            <a:ext cx="2887123" cy="2514601"/>
          </a:xfrm>
          <a:prstGeom prst="rect">
            <a:avLst/>
          </a:prstGeom>
        </p:spPr>
        <p:txBody>
          <a:bodyPr anchor="b"/>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83FCCD6-08E9-5F43-B78A-D6D06FA7D888}" type="datetime1">
              <a:rPr lang="en-US" smtClean="0"/>
              <a:t>1/31/2026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0999"/>
          </a:xfrm>
        </p:spPr>
        <p:txBody>
          <a:bodyPr/>
          <a:lstStyle/>
          <a:p>
            <a:r>
              <a:rPr lang="en-US" dirty="0"/>
              <a:t>Sample Footer Text</a:t>
            </a:r>
          </a:p>
        </p:txBody>
      </p:sp>
      <p:sp>
        <p:nvSpPr>
          <p:cNvPr id="11" name="Content Placeholder 7">
            <a:extLst>
              <a:ext uri="{FF2B5EF4-FFF2-40B4-BE49-F238E27FC236}">
                <a16:creationId xmlns:a16="http://schemas.microsoft.com/office/drawing/2014/main" id="{983E9A5C-C933-60D2-BA0B-5D63E2467D6A}"/>
              </a:ext>
            </a:extLst>
          </p:cNvPr>
          <p:cNvSpPr>
            <a:spLocks noGrp="1"/>
          </p:cNvSpPr>
          <p:nvPr>
            <p:ph sz="quarter" idx="15"/>
          </p:nvPr>
        </p:nvSpPr>
        <p:spPr>
          <a:xfrm>
            <a:off x="492102" y="3429000"/>
            <a:ext cx="2887123" cy="297179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9">
            <a:extLst>
              <a:ext uri="{FF2B5EF4-FFF2-40B4-BE49-F238E27FC236}">
                <a16:creationId xmlns:a16="http://schemas.microsoft.com/office/drawing/2014/main" id="{74DB69AA-A231-8C00-D853-CD5E094B0681}"/>
              </a:ext>
            </a:extLst>
          </p:cNvPr>
          <p:cNvSpPr>
            <a:spLocks noGrp="1"/>
          </p:cNvSpPr>
          <p:nvPr>
            <p:ph type="pic" sz="quarter" idx="13" hasCustomPrompt="1"/>
          </p:nvPr>
        </p:nvSpPr>
        <p:spPr>
          <a:xfrm>
            <a:off x="3832696" y="457200"/>
            <a:ext cx="8359305"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799"/>
            <a:ext cx="1295400" cy="381001"/>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675815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314FBE-6941-996E-732C-BE9042D03FA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4568825 h 6854823"/>
              <a:gd name="csX2" fmla="*/ 11729151 w 12186352"/>
              <a:gd name="csY2" fmla="*/ 4568825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4568825"/>
                </a:lnTo>
                <a:lnTo>
                  <a:pt x="11729151" y="4568825"/>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5029201"/>
            <a:ext cx="3810000" cy="1371600"/>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5752D2-CCDE-DA48-AA88-B770548F7575}" type="datetime1">
              <a:rPr lang="en-US" smtClean="0"/>
              <a:t>1/31/2026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4D0830D9-CC27-C2C3-C727-D0E6E595B28C}"/>
              </a:ext>
            </a:extLst>
          </p:cNvPr>
          <p:cNvSpPr>
            <a:spLocks noGrp="1"/>
          </p:cNvSpPr>
          <p:nvPr>
            <p:ph type="pic" sz="quarter" idx="13" hasCustomPrompt="1"/>
          </p:nvPr>
        </p:nvSpPr>
        <p:spPr>
          <a:xfrm>
            <a:off x="457200" y="457200"/>
            <a:ext cx="11277600" cy="4114799"/>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18751" y="5029200"/>
            <a:ext cx="7016048" cy="1371600"/>
          </a:xfrm>
        </p:spPr>
        <p:txBody>
          <a:bodyPr vert="horz" lIns="91440" tIns="45720" rIns="91440" bIns="45720" rtlCol="0">
            <a:normAutofit/>
          </a:bodyPr>
          <a:lstStyle>
            <a:lvl1pPr marL="0" indent="0">
              <a:lnSpc>
                <a:spcPct val="100000"/>
              </a:lnSpc>
              <a:spcBef>
                <a:spcPts val="0"/>
              </a:spcBef>
              <a:buNone/>
              <a:defRPr lang="en-US" dirty="0"/>
            </a:lvl1pPr>
            <a:lvl2pPr marL="228600" indent="0">
              <a:lnSpc>
                <a:spcPct val="100000"/>
              </a:lnSpc>
              <a:spcBef>
                <a:spcPts val="0"/>
              </a:spcBef>
              <a:buNone/>
              <a:defRPr lang="en-US" dirty="0"/>
            </a:lvl2pPr>
            <a:lvl3pPr marL="457200" indent="0">
              <a:lnSpc>
                <a:spcPct val="100000"/>
              </a:lnSpc>
              <a:spcBef>
                <a:spcPts val="0"/>
              </a:spcBef>
              <a:buNone/>
              <a:defRPr lang="en-US" dirty="0"/>
            </a:lvl3pPr>
            <a:lvl4pPr marL="685800" indent="0">
              <a:lnSpc>
                <a:spcPct val="100000"/>
              </a:lnSpc>
              <a:spcBef>
                <a:spcPts val="0"/>
              </a:spcBef>
              <a:buNone/>
              <a:defRPr lang="en-US" dirty="0"/>
            </a:lvl4pPr>
            <a:lvl5pPr marL="914400" indent="0">
              <a:lnSpc>
                <a:spcPct val="100000"/>
              </a:lnSpc>
              <a:spcBef>
                <a:spcPts val="0"/>
              </a:spcBef>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940907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CB3BA5-C3CC-30C6-920A-AFE4D14AF261}"/>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8" y="3177"/>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3 h 6854823"/>
              <a:gd name="csX5" fmla="*/ 4761059 w 12186352"/>
              <a:gd name="csY5" fmla="*/ 6397623 h 6854823"/>
              <a:gd name="csX6" fmla="*/ 4761059 w 12186352"/>
              <a:gd name="csY6" fmla="*/ 454023 h 6854823"/>
              <a:gd name="csX7" fmla="*/ 12186352 w 12186352"/>
              <a:gd name="csY7" fmla="*/ 4540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3"/>
                </a:lnTo>
                <a:lnTo>
                  <a:pt x="4761059" y="6397623"/>
                </a:lnTo>
                <a:lnTo>
                  <a:pt x="4761059" y="454023"/>
                </a:lnTo>
                <a:lnTo>
                  <a:pt x="12186352" y="454023"/>
                </a:lnTo>
                <a:close/>
              </a:path>
            </a:pathLst>
          </a:custGeom>
        </p:spPr>
      </p:pic>
      <p:sp>
        <p:nvSpPr>
          <p:cNvPr id="3" name="Title 1">
            <a:extLst>
              <a:ext uri="{FF2B5EF4-FFF2-40B4-BE49-F238E27FC236}">
                <a16:creationId xmlns:a16="http://schemas.microsoft.com/office/drawing/2014/main" id="{1B804614-19A7-C141-7231-844689471208}"/>
              </a:ext>
            </a:extLst>
          </p:cNvPr>
          <p:cNvSpPr>
            <a:spLocks noGrp="1"/>
          </p:cNvSpPr>
          <p:nvPr>
            <p:ph type="title"/>
          </p:nvPr>
        </p:nvSpPr>
        <p:spPr>
          <a:xfrm>
            <a:off x="7890964" y="457200"/>
            <a:ext cx="3843837" cy="1710063"/>
          </a:xfrm>
          <a:prstGeom prst="rect">
            <a:avLst/>
          </a:prstGeom>
        </p:spPr>
        <p:txBody>
          <a:bodyPr anchor="b">
            <a:normAutofit/>
          </a:bodyPr>
          <a:lstStyle>
            <a:lvl1pPr>
              <a:defRPr sz="3600"/>
            </a:lvl1pPr>
          </a:lstStyle>
          <a:p>
            <a:r>
              <a:rPr lang="en-US" dirty="0"/>
              <a:t>Click to edit Master title style</a:t>
            </a:r>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76200" y="76200"/>
            <a:ext cx="1295401" cy="381000"/>
          </a:xfrm>
        </p:spPr>
        <p:txBody>
          <a:bodyPr/>
          <a:lstStyle/>
          <a:p>
            <a:fld id="{2E2458BC-FE32-0A45-9DD7-ED7D64447D19}" type="datetime1">
              <a:rPr lang="en-US" smtClean="0"/>
              <a:t>1/31/2026</a:t>
            </a:fld>
            <a:endParaRPr lang="en-US" dirty="0"/>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6096000" y="76200"/>
            <a:ext cx="6019800" cy="384048"/>
          </a:xfrm>
        </p:spPr>
        <p:txBody>
          <a:bodyPr/>
          <a:lstStyle/>
          <a:p>
            <a:r>
              <a:rPr lang="en-US" dirty="0"/>
              <a:t>Sample Footer Text</a:t>
            </a:r>
          </a:p>
        </p:txBody>
      </p:sp>
      <p:sp>
        <p:nvSpPr>
          <p:cNvPr id="4" name="Picture Placeholder 10">
            <a:extLst>
              <a:ext uri="{FF2B5EF4-FFF2-40B4-BE49-F238E27FC236}">
                <a16:creationId xmlns:a16="http://schemas.microsoft.com/office/drawing/2014/main" id="{B4F324D2-4F52-DFB7-CF7C-C3182974B46A}"/>
              </a:ext>
            </a:extLst>
          </p:cNvPr>
          <p:cNvSpPr>
            <a:spLocks noGrp="1"/>
          </p:cNvSpPr>
          <p:nvPr>
            <p:ph type="pic" sz="quarter" idx="13" hasCustomPrompt="1"/>
          </p:nvPr>
        </p:nvSpPr>
        <p:spPr>
          <a:xfrm>
            <a:off x="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890964" y="2624462"/>
            <a:ext cx="3843837" cy="3776337"/>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9660822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8C312-FD23-D608-5B72-5DB43989560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4755412 w 12186352"/>
              <a:gd name="csY3" fmla="*/ 454026 h 6854823"/>
              <a:gd name="csX4" fmla="*/ 4755412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4755412" y="454026"/>
                </a:lnTo>
                <a:lnTo>
                  <a:pt x="4755412"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3714" cy="1710064"/>
          </a:xfrm>
          <a:prstGeom prst="rect">
            <a:avLst/>
          </a:prstGeom>
        </p:spPr>
        <p:txBody>
          <a:bodyPr anchor="b">
            <a:normAutofit/>
          </a:bodyPr>
          <a:lstStyle>
            <a:lvl1pPr>
              <a:defRPr sz="3600"/>
            </a:lvl1pPr>
          </a:lstStyle>
          <a:p>
            <a:r>
              <a:rPr lang="en-US" dirty="0"/>
              <a:t>Click to edit Master title style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76200" y="76201"/>
            <a:ext cx="1295400" cy="381000"/>
          </a:xfrm>
        </p:spPr>
        <p:txBody>
          <a:bodyPr/>
          <a:lstStyle/>
          <a:p>
            <a:fld id="{1233975F-0E53-0840-98CD-E03B319E6BC3}" type="datetime1">
              <a:rPr lang="en-US" smtClean="0"/>
              <a:t>1/31/2026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096000" y="76201"/>
            <a:ext cx="6019799" cy="381000"/>
          </a:xfrm>
        </p:spPr>
        <p:txBody>
          <a:bodyPr/>
          <a:lstStyle/>
          <a:p>
            <a:r>
              <a:rPr lang="en-US" dirty="0"/>
              <a:t>Sample Footer Text</a:t>
            </a:r>
          </a:p>
        </p:txBody>
      </p:sp>
      <p:sp>
        <p:nvSpPr>
          <p:cNvPr id="6" name="Content Placeholder 7">
            <a:extLst>
              <a:ext uri="{FF2B5EF4-FFF2-40B4-BE49-F238E27FC236}">
                <a16:creationId xmlns:a16="http://schemas.microsoft.com/office/drawing/2014/main" id="{C04AEB09-C22F-E34F-DEF8-A875003EEE36}"/>
              </a:ext>
            </a:extLst>
          </p:cNvPr>
          <p:cNvSpPr>
            <a:spLocks noGrp="1"/>
          </p:cNvSpPr>
          <p:nvPr>
            <p:ph sz="quarter" idx="18"/>
          </p:nvPr>
        </p:nvSpPr>
        <p:spPr>
          <a:xfrm>
            <a:off x="457201" y="2621290"/>
            <a:ext cx="3813714" cy="377951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0">
            <a:extLst>
              <a:ext uri="{FF2B5EF4-FFF2-40B4-BE49-F238E27FC236}">
                <a16:creationId xmlns:a16="http://schemas.microsoft.com/office/drawing/2014/main" id="{B255439D-9DD5-19F0-DFF1-101A9899DFC7}"/>
              </a:ext>
            </a:extLst>
          </p:cNvPr>
          <p:cNvSpPr>
            <a:spLocks noGrp="1"/>
          </p:cNvSpPr>
          <p:nvPr>
            <p:ph type="pic" sz="quarter" idx="13" hasCustomPrompt="1"/>
          </p:nvPr>
        </p:nvSpPr>
        <p:spPr>
          <a:xfrm>
            <a:off x="476106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73707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DD87899-462F-D06B-5D64-3ED065B39543}"/>
              </a:ext>
            </a:extLst>
          </p:cNvPr>
          <p:cNvSpPr>
            <a:spLocks noGrp="1"/>
          </p:cNvSpPr>
          <p:nvPr>
            <p:ph type="title"/>
          </p:nvPr>
        </p:nvSpPr>
        <p:spPr>
          <a:xfrm>
            <a:off x="6999060" y="457200"/>
            <a:ext cx="4735740" cy="1306009"/>
          </a:xfrm>
          <a:prstGeom prst="rect">
            <a:avLst/>
          </a:prstGeom>
        </p:spPr>
        <p:txBody>
          <a:bodyPr anchor="b"/>
          <a:lstStyle/>
          <a:p>
            <a:r>
              <a:rPr lang="en-US" dirty="0"/>
              <a:t>Click to edit Master title style</a:t>
            </a:r>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76201" y="76201"/>
            <a:ext cx="1295400" cy="380999"/>
          </a:xfrm>
        </p:spPr>
        <p:txBody>
          <a:bodyPr/>
          <a:lstStyle/>
          <a:p>
            <a:fld id="{D0CA20AB-D25D-704E-83C3-6B013E02E645}" type="datetime1">
              <a:rPr lang="en-US" smtClean="0"/>
              <a:t>1/31/2026</a:t>
            </a:fld>
            <a:endParaRPr lang="en-US" dirty="0"/>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096000" y="76201"/>
            <a:ext cx="6019799" cy="380999"/>
          </a:xfrm>
        </p:spPr>
        <p:txBody>
          <a:bodyPr/>
          <a:lstStyle>
            <a:lvl1pPr>
              <a:defRPr>
                <a:solidFill>
                  <a:schemeClr val="tx1"/>
                </a:solidFill>
                <a:effectLst/>
              </a:defRPr>
            </a:lvl1pPr>
          </a:lstStyle>
          <a:p>
            <a:r>
              <a:rPr lang="en-US" dirty="0"/>
              <a:t>Sample Footer Text</a:t>
            </a:r>
          </a:p>
        </p:txBody>
      </p:sp>
      <p:sp>
        <p:nvSpPr>
          <p:cNvPr id="6" name="Picture Placeholder 10">
            <a:extLst>
              <a:ext uri="{FF2B5EF4-FFF2-40B4-BE49-F238E27FC236}">
                <a16:creationId xmlns:a16="http://schemas.microsoft.com/office/drawing/2014/main" id="{805F337F-4512-E680-8F5A-95C181282643}"/>
              </a:ext>
            </a:extLst>
          </p:cNvPr>
          <p:cNvSpPr>
            <a:spLocks noGrp="1"/>
          </p:cNvSpPr>
          <p:nvPr>
            <p:ph type="pic" sz="quarter" idx="13" hasCustomPrompt="1"/>
          </p:nvPr>
        </p:nvSpPr>
        <p:spPr>
          <a:xfrm>
            <a:off x="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3" name="Content Placeholder 7">
            <a:extLst>
              <a:ext uri="{FF2B5EF4-FFF2-40B4-BE49-F238E27FC236}">
                <a16:creationId xmlns:a16="http://schemas.microsoft.com/office/drawing/2014/main" id="{C68F33D8-4565-CA0E-DF2E-27FBE006F917}"/>
              </a:ext>
            </a:extLst>
          </p:cNvPr>
          <p:cNvSpPr>
            <a:spLocks noGrp="1"/>
          </p:cNvSpPr>
          <p:nvPr>
            <p:ph sz="quarter" idx="14"/>
          </p:nvPr>
        </p:nvSpPr>
        <p:spPr>
          <a:xfrm>
            <a:off x="6999060" y="2209800"/>
            <a:ext cx="4735740" cy="419100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0820399" y="6400800"/>
            <a:ext cx="1295399"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4069786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445860" y="457200"/>
            <a:ext cx="4796699" cy="1306009"/>
          </a:xfrm>
          <a:prstGeom prst="rect">
            <a:avLst/>
          </a:prstGeom>
        </p:spPr>
        <p:txBody>
          <a:bodyPr anchor="b"/>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1" cy="380999"/>
          </a:xfrm>
        </p:spPr>
        <p:txBody>
          <a:bodyPr/>
          <a:lstStyle/>
          <a:p>
            <a:fld id="{B31F77D0-31D8-5446-A1F3-FE6147C324EC}" type="datetime1">
              <a:rPr lang="en-US" smtClean="0"/>
              <a:t>1/31/2026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2"/>
            <a:ext cx="6019800" cy="380998"/>
          </a:xfrm>
        </p:spPr>
        <p:txBody>
          <a:bodyPr/>
          <a:lstStyle>
            <a:lvl1pPr>
              <a:defRPr>
                <a:solidFill>
                  <a:schemeClr val="tx1"/>
                </a:solidFill>
                <a:effectLst/>
              </a:defRPr>
            </a:lvl1pPr>
          </a:lstStyle>
          <a:p>
            <a:r>
              <a:rPr lang="en-US" dirty="0"/>
              <a:t>Sample Footer Text</a:t>
            </a:r>
          </a:p>
        </p:txBody>
      </p:sp>
      <p:sp>
        <p:nvSpPr>
          <p:cNvPr id="4" name="Content Placeholder 7">
            <a:extLst>
              <a:ext uri="{FF2B5EF4-FFF2-40B4-BE49-F238E27FC236}">
                <a16:creationId xmlns:a16="http://schemas.microsoft.com/office/drawing/2014/main" id="{EAC9A1BA-A83A-E476-1A91-3DB0B544DF34}"/>
              </a:ext>
            </a:extLst>
          </p:cNvPr>
          <p:cNvSpPr>
            <a:spLocks noGrp="1"/>
          </p:cNvSpPr>
          <p:nvPr>
            <p:ph sz="quarter" idx="14"/>
          </p:nvPr>
        </p:nvSpPr>
        <p:spPr>
          <a:xfrm>
            <a:off x="484835" y="2209800"/>
            <a:ext cx="4735740" cy="419100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A90998F5-C9FB-EC52-B802-B62AA63E4263}"/>
              </a:ext>
            </a:extLst>
          </p:cNvPr>
          <p:cNvSpPr>
            <a:spLocks noGrp="1"/>
          </p:cNvSpPr>
          <p:nvPr>
            <p:ph type="pic" sz="quarter" idx="13" hasCustomPrompt="1"/>
          </p:nvPr>
        </p:nvSpPr>
        <p:spPr>
          <a:xfrm>
            <a:off x="569976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400"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39606013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46F2B-72CE-C947-0021-F34244B4344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3654426 h 6854823"/>
              <a:gd name="csX2" fmla="*/ 11729151 w 12186352"/>
              <a:gd name="csY2" fmla="*/ 3654426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3654426"/>
                </a:lnTo>
                <a:lnTo>
                  <a:pt x="11729151" y="3654426"/>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111624"/>
            <a:ext cx="3219343" cy="2289175"/>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05CF00-6C05-B849-B141-54CC9A394B3C}" type="datetime1">
              <a:rPr lang="en-US" smtClean="0"/>
              <a:t>1/31/2026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9" name="Picture Placeholder 10">
            <a:extLst>
              <a:ext uri="{FF2B5EF4-FFF2-40B4-BE49-F238E27FC236}">
                <a16:creationId xmlns:a16="http://schemas.microsoft.com/office/drawing/2014/main" id="{5CCD5774-AB2C-F489-2BCD-75A5731FA857}"/>
              </a:ext>
            </a:extLst>
          </p:cNvPr>
          <p:cNvSpPr>
            <a:spLocks noGrp="1"/>
          </p:cNvSpPr>
          <p:nvPr>
            <p:ph type="pic" sz="quarter" idx="13" hasCustomPrompt="1"/>
          </p:nvPr>
        </p:nvSpPr>
        <p:spPr>
          <a:xfrm>
            <a:off x="457200" y="457200"/>
            <a:ext cx="11277600" cy="32004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8092" y="4111624"/>
            <a:ext cx="7606708" cy="228917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828326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4D3EA0-3FE9-3CAB-830E-268B27509F72}"/>
              </a:ext>
            </a:extLst>
          </p:cNvPr>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451551 w 12186352"/>
              <a:gd name="csY0" fmla="*/ 3638875 h 6854823"/>
              <a:gd name="csX1" fmla="*/ 451551 w 12186352"/>
              <a:gd name="csY1" fmla="*/ 438477 h 6854823"/>
              <a:gd name="csX2" fmla="*/ 11729151 w 12186352"/>
              <a:gd name="csY2" fmla="*/ 438477 h 6854823"/>
              <a:gd name="csX3" fmla="*/ 11729151 w 12186352"/>
              <a:gd name="csY3" fmla="*/ 3638875 h 6854823"/>
              <a:gd name="csX4" fmla="*/ 0 w 12186352"/>
              <a:gd name="csY4" fmla="*/ 6854823 h 6854823"/>
              <a:gd name="csX5" fmla="*/ 12186352 w 12186352"/>
              <a:gd name="csY5" fmla="*/ 6854823 h 6854823"/>
              <a:gd name="csX6" fmla="*/ 12186352 w 12186352"/>
              <a:gd name="csY6" fmla="*/ 0 h 6854823"/>
              <a:gd name="csX7" fmla="*/ 0 w 12186352"/>
              <a:gd name="csY7" fmla="*/ 0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3638875"/>
                </a:moveTo>
                <a:lnTo>
                  <a:pt x="451551" y="438477"/>
                </a:lnTo>
                <a:lnTo>
                  <a:pt x="11729151" y="438477"/>
                </a:lnTo>
                <a:lnTo>
                  <a:pt x="11729151" y="3638875"/>
                </a:lnTo>
                <a:close/>
                <a:moveTo>
                  <a:pt x="0" y="6854823"/>
                </a:moveTo>
                <a:lnTo>
                  <a:pt x="12186352" y="6854823"/>
                </a:lnTo>
                <a:lnTo>
                  <a:pt x="12186352" y="0"/>
                </a:lnTo>
                <a:lnTo>
                  <a:pt x="0" y="0"/>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200400" cy="2307896"/>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1" y="76201"/>
            <a:ext cx="1295400" cy="381000"/>
          </a:xfrm>
        </p:spPr>
        <p:txBody>
          <a:bodyPr/>
          <a:lstStyle/>
          <a:p>
            <a:fld id="{66499679-3EA0-9342-AF62-C5FAA18B6EFA}" type="datetime1">
              <a:rPr lang="en-US" smtClean="0"/>
              <a:t>1/31/2026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1000"/>
          </a:xfrm>
        </p:spPr>
        <p:txBody>
          <a:bodyPr/>
          <a:lstStyle/>
          <a:p>
            <a:r>
              <a:rPr lang="en-US" dirty="0"/>
              <a:t>Sample Footer Text</a:t>
            </a:r>
          </a:p>
        </p:txBody>
      </p:sp>
      <p:sp>
        <p:nvSpPr>
          <p:cNvPr id="11" name="Content Placeholder 7">
            <a:extLst>
              <a:ext uri="{FF2B5EF4-FFF2-40B4-BE49-F238E27FC236}">
                <a16:creationId xmlns:a16="http://schemas.microsoft.com/office/drawing/2014/main" id="{FAF7E276-884D-AF00-1E18-715F56A8A905}"/>
              </a:ext>
            </a:extLst>
          </p:cNvPr>
          <p:cNvSpPr>
            <a:spLocks noGrp="1"/>
          </p:cNvSpPr>
          <p:nvPr>
            <p:ph sz="quarter" idx="15"/>
          </p:nvPr>
        </p:nvSpPr>
        <p:spPr>
          <a:xfrm>
            <a:off x="4122370" y="457200"/>
            <a:ext cx="7612430" cy="230789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B1DE11C5-B5A8-F8F8-2A43-C0C95802637E}"/>
              </a:ext>
            </a:extLst>
          </p:cNvPr>
          <p:cNvSpPr>
            <a:spLocks noGrp="1"/>
          </p:cNvSpPr>
          <p:nvPr>
            <p:ph type="pic" sz="quarter" idx="13" hasCustomPrompt="1"/>
          </p:nvPr>
        </p:nvSpPr>
        <p:spPr>
          <a:xfrm>
            <a:off x="457200" y="3219122"/>
            <a:ext cx="11277600" cy="3200398"/>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553626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268A4B-F698-5EDC-1790-BA10F89CD8F3}"/>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6 h 6854823"/>
              <a:gd name="csX5" fmla="*/ 7467253 w 12186352"/>
              <a:gd name="csY5" fmla="*/ 6397626 h 6854823"/>
              <a:gd name="csX6" fmla="*/ 7467253 w 12186352"/>
              <a:gd name="csY6" fmla="*/ 454025 h 6854823"/>
              <a:gd name="csX7" fmla="*/ 12186352 w 12186352"/>
              <a:gd name="csY7" fmla="*/ 454025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6"/>
                </a:lnTo>
                <a:lnTo>
                  <a:pt x="7467253" y="6397626"/>
                </a:lnTo>
                <a:lnTo>
                  <a:pt x="7467253" y="454025"/>
                </a:lnTo>
                <a:lnTo>
                  <a:pt x="12186352" y="454025"/>
                </a:lnTo>
                <a:close/>
              </a:path>
            </a:pathLst>
          </a:cu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1949" y="457199"/>
            <a:ext cx="6552851" cy="1555845"/>
          </a:xfrm>
          <a:prstGeom prst="rect">
            <a:avLst/>
          </a:prstGeom>
        </p:spPr>
        <p:txBody>
          <a:bodyPr anchor="b"/>
          <a:lstStyle/>
          <a:p>
            <a:r>
              <a:rPr lang="en-US" dirty="0"/>
              <a:t>Click to edit Master title style</a:t>
            </a:r>
          </a:p>
        </p:txBody>
      </p:sp>
      <p:sp>
        <p:nvSpPr>
          <p:cNvPr id="7" name="Date Placeholder 8">
            <a:extLst>
              <a:ext uri="{FF2B5EF4-FFF2-40B4-BE49-F238E27FC236}">
                <a16:creationId xmlns:a16="http://schemas.microsoft.com/office/drawing/2014/main" id="{1E168D7B-B77A-72AC-AA72-64FBAA8D378C}"/>
              </a:ext>
            </a:extLst>
          </p:cNvPr>
          <p:cNvSpPr>
            <a:spLocks noGrp="1"/>
          </p:cNvSpPr>
          <p:nvPr>
            <p:ph type="dt" sz="half" idx="15"/>
          </p:nvPr>
        </p:nvSpPr>
        <p:spPr>
          <a:xfrm>
            <a:off x="76200" y="76201"/>
            <a:ext cx="1295400" cy="380998"/>
          </a:xfrm>
        </p:spPr>
        <p:txBody>
          <a:bodyPr/>
          <a:lstStyle/>
          <a:p>
            <a:fld id="{3C97155C-DE68-4440-8202-CC9478E27F07}" type="datetime1">
              <a:rPr lang="en-US" smtClean="0"/>
              <a:t>1/31/2026</a:t>
            </a:fld>
            <a:endParaRPr lang="en-US" dirty="0"/>
          </a:p>
        </p:txBody>
      </p:sp>
      <p:sp>
        <p:nvSpPr>
          <p:cNvPr id="6" name="Footer Placeholder 9">
            <a:extLst>
              <a:ext uri="{FF2B5EF4-FFF2-40B4-BE49-F238E27FC236}">
                <a16:creationId xmlns:a16="http://schemas.microsoft.com/office/drawing/2014/main" id="{4014B883-B832-AE53-6858-8E25B13C5BC7}"/>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4" name="Picture Placeholder 13">
            <a:extLst>
              <a:ext uri="{FF2B5EF4-FFF2-40B4-BE49-F238E27FC236}">
                <a16:creationId xmlns:a16="http://schemas.microsoft.com/office/drawing/2014/main" id="{CC1B439C-57E0-A299-9A98-A81BFA738C83}"/>
              </a:ext>
            </a:extLst>
          </p:cNvPr>
          <p:cNvSpPr>
            <a:spLocks noGrp="1"/>
          </p:cNvSpPr>
          <p:nvPr>
            <p:ph type="pic" sz="quarter" idx="13" hasCustomPrompt="1"/>
          </p:nvPr>
        </p:nvSpPr>
        <p:spPr>
          <a:xfrm>
            <a:off x="0"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1949" y="2470242"/>
            <a:ext cx="6552851" cy="3930558"/>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11">
            <a:extLst>
              <a:ext uri="{FF2B5EF4-FFF2-40B4-BE49-F238E27FC236}">
                <a16:creationId xmlns:a16="http://schemas.microsoft.com/office/drawing/2014/main" id="{7CA11211-0281-DD36-148E-3ABC6374978F}"/>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92797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4C1286-F0A1-DDC1-4A24-85A9D3462CB1}"/>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5 h 6854823"/>
              <a:gd name="csX3" fmla="*/ 7461604 w 12186352"/>
              <a:gd name="csY3" fmla="*/ 454025 h 6854823"/>
              <a:gd name="csX4" fmla="*/ 7461604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5"/>
                </a:lnTo>
                <a:lnTo>
                  <a:pt x="7461604" y="454025"/>
                </a:lnTo>
                <a:lnTo>
                  <a:pt x="7461604" y="6397626"/>
                </a:lnTo>
                <a:lnTo>
                  <a:pt x="12186352" y="6397626"/>
                </a:lnTo>
                <a:lnTo>
                  <a:pt x="12186352" y="6854823"/>
                </a:lnTo>
                <a:lnTo>
                  <a:pt x="0" y="6854823"/>
                </a:lnTo>
                <a:close/>
              </a:path>
            </a:pathLst>
          </a:custGeom>
        </p:spPr>
      </p:pic>
      <p:sp>
        <p:nvSpPr>
          <p:cNvPr id="3" name="Title 1">
            <a:extLst>
              <a:ext uri="{FF2B5EF4-FFF2-40B4-BE49-F238E27FC236}">
                <a16:creationId xmlns:a16="http://schemas.microsoft.com/office/drawing/2014/main" id="{D7F3BC77-0C60-6C24-E5FE-6B80D4812824}"/>
              </a:ext>
            </a:extLst>
          </p:cNvPr>
          <p:cNvSpPr>
            <a:spLocks noGrp="1"/>
          </p:cNvSpPr>
          <p:nvPr>
            <p:ph type="title"/>
          </p:nvPr>
        </p:nvSpPr>
        <p:spPr>
          <a:xfrm>
            <a:off x="457200" y="457200"/>
            <a:ext cx="6549553" cy="1549495"/>
          </a:xfrm>
          <a:prstGeom prst="rect">
            <a:avLst/>
          </a:prstGeom>
        </p:spPr>
        <p:txBody>
          <a:bodyPr anchor="b"/>
          <a:lstStyle/>
          <a:p>
            <a:r>
              <a:rPr lang="en-US" dirty="0"/>
              <a:t>Click to edit Master title style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76200" y="76201"/>
            <a:ext cx="1295400" cy="380999"/>
          </a:xfrm>
        </p:spPr>
        <p:txBody>
          <a:bodyPr/>
          <a:lstStyle/>
          <a:p>
            <a:fld id="{2B9DA8F7-1BE7-954A-B654-92996DBA4E86}" type="datetime1">
              <a:rPr lang="en-US" smtClean="0"/>
              <a:t>1/31/2026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15" name="Content Placeholder 7">
            <a:extLst>
              <a:ext uri="{FF2B5EF4-FFF2-40B4-BE49-F238E27FC236}">
                <a16:creationId xmlns:a16="http://schemas.microsoft.com/office/drawing/2014/main" id="{F0A2831D-F063-09A6-A707-24AC43E312D9}"/>
              </a:ext>
            </a:extLst>
          </p:cNvPr>
          <p:cNvSpPr>
            <a:spLocks noGrp="1"/>
          </p:cNvSpPr>
          <p:nvPr>
            <p:ph sz="quarter" idx="14"/>
          </p:nvPr>
        </p:nvSpPr>
        <p:spPr>
          <a:xfrm>
            <a:off x="453902" y="2470242"/>
            <a:ext cx="6552851" cy="3930558"/>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3">
            <a:extLst>
              <a:ext uri="{FF2B5EF4-FFF2-40B4-BE49-F238E27FC236}">
                <a16:creationId xmlns:a16="http://schemas.microsoft.com/office/drawing/2014/main" id="{FEC7CBEB-1BF7-2607-DBAA-531A9067F8B1}"/>
              </a:ext>
            </a:extLst>
          </p:cNvPr>
          <p:cNvSpPr>
            <a:spLocks noGrp="1"/>
          </p:cNvSpPr>
          <p:nvPr>
            <p:ph type="pic" sz="quarter" idx="19" hasCustomPrompt="1"/>
          </p:nvPr>
        </p:nvSpPr>
        <p:spPr>
          <a:xfrm>
            <a:off x="7467253"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9776884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1A7354-C3D2-8AD8-40DE-4E850BDFCC68}"/>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6533074 w 12186352"/>
              <a:gd name="csY0" fmla="*/ 1858587 h 6854823"/>
              <a:gd name="csX1" fmla="*/ 6533074 w 12186352"/>
              <a:gd name="csY1" fmla="*/ 6397626 h 6854823"/>
              <a:gd name="csX2" fmla="*/ 3 w 12186352"/>
              <a:gd name="csY2" fmla="*/ 6397626 h 6854823"/>
              <a:gd name="csX3" fmla="*/ 3 w 12186352"/>
              <a:gd name="csY3" fmla="*/ 1858587 h 6854823"/>
              <a:gd name="csX4" fmla="*/ 12186352 w 12186352"/>
              <a:gd name="csY4" fmla="*/ 0 h 6854823"/>
              <a:gd name="csX5" fmla="*/ 0 w 12186352"/>
              <a:gd name="csY5" fmla="*/ 0 h 6854823"/>
              <a:gd name="csX6" fmla="*/ 0 w 12186352"/>
              <a:gd name="csY6" fmla="*/ 6854823 h 6854823"/>
              <a:gd name="csX7" fmla="*/ 12186352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6533074" y="1858587"/>
                </a:moveTo>
                <a:lnTo>
                  <a:pt x="6533074" y="6397626"/>
                </a:lnTo>
                <a:lnTo>
                  <a:pt x="3" y="6397626"/>
                </a:lnTo>
                <a:lnTo>
                  <a:pt x="3"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457200" y="490161"/>
            <a:ext cx="11277599" cy="914400"/>
          </a:xfrm>
          <a:prstGeom prst="rect">
            <a:avLst/>
          </a:prstGeom>
        </p:spPr>
        <p:txBody>
          <a:bodyPr anchor="b"/>
          <a:lstStyle/>
          <a:p>
            <a:r>
              <a:rPr lang="en-US" dirty="0"/>
              <a:t>Click to edit Master title style</a:t>
            </a:r>
          </a:p>
        </p:txBody>
      </p:sp>
      <p:sp>
        <p:nvSpPr>
          <p:cNvPr id="7" name="Date Placeholder 3">
            <a:extLst>
              <a:ext uri="{FF2B5EF4-FFF2-40B4-BE49-F238E27FC236}">
                <a16:creationId xmlns:a16="http://schemas.microsoft.com/office/drawing/2014/main" id="{61FAF02C-8E8E-0257-0307-15E6853700FC}"/>
              </a:ext>
            </a:extLst>
          </p:cNvPr>
          <p:cNvSpPr>
            <a:spLocks noGrp="1"/>
          </p:cNvSpPr>
          <p:nvPr>
            <p:ph type="dt" sz="half" idx="15"/>
          </p:nvPr>
        </p:nvSpPr>
        <p:spPr>
          <a:xfrm>
            <a:off x="76201" y="76201"/>
            <a:ext cx="1295400" cy="380999"/>
          </a:xfrm>
        </p:spPr>
        <p:txBody>
          <a:bodyPr/>
          <a:lstStyle/>
          <a:p>
            <a:fld id="{5447FF96-6068-D045-B983-6A2E1F44124F}" type="datetime1">
              <a:rPr lang="en-US" smtClean="0"/>
              <a:t>1/31/2026</a:t>
            </a:fld>
            <a:endParaRPr lang="en-US" dirty="0"/>
          </a:p>
        </p:txBody>
      </p:sp>
      <p:sp>
        <p:nvSpPr>
          <p:cNvPr id="6" name="Footer Placeholder 8">
            <a:extLst>
              <a:ext uri="{FF2B5EF4-FFF2-40B4-BE49-F238E27FC236}">
                <a16:creationId xmlns:a16="http://schemas.microsoft.com/office/drawing/2014/main" id="{12F6119E-6325-71C5-AFDB-160A100A21B2}"/>
              </a:ext>
            </a:extLst>
          </p:cNvPr>
          <p:cNvSpPr>
            <a:spLocks noGrp="1"/>
          </p:cNvSpPr>
          <p:nvPr>
            <p:ph type="ftr" sz="quarter" idx="16"/>
          </p:nvPr>
        </p:nvSpPr>
        <p:spPr>
          <a:xfrm>
            <a:off x="6096000" y="76201"/>
            <a:ext cx="6019800" cy="380999"/>
          </a:xfrm>
        </p:spPr>
        <p:txBody>
          <a:bodyPr/>
          <a:lstStyle/>
          <a:p>
            <a:r>
              <a:rPr lang="en-US" dirty="0"/>
              <a:t>Sample Footer Text</a:t>
            </a:r>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457200" y="1861761"/>
            <a:ext cx="4744527"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1">
            <a:extLst>
              <a:ext uri="{FF2B5EF4-FFF2-40B4-BE49-F238E27FC236}">
                <a16:creationId xmlns:a16="http://schemas.microsoft.com/office/drawing/2014/main" id="{4E3FB443-D4CA-E6C5-2187-4A649A47F28A}"/>
              </a:ext>
            </a:extLst>
          </p:cNvPr>
          <p:cNvSpPr>
            <a:spLocks noGrp="1"/>
          </p:cNvSpPr>
          <p:nvPr>
            <p:ph type="pic" sz="quarter" idx="13" hasCustomPrompt="1"/>
          </p:nvPr>
        </p:nvSpPr>
        <p:spPr>
          <a:xfrm>
            <a:off x="5658927" y="1861761"/>
            <a:ext cx="6533071" cy="4539039"/>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1" name="Slide Number Placeholder 9">
            <a:extLst>
              <a:ext uri="{FF2B5EF4-FFF2-40B4-BE49-F238E27FC236}">
                <a16:creationId xmlns:a16="http://schemas.microsoft.com/office/drawing/2014/main" id="{339D0113-D166-6E44-FF30-39C61CD13791}"/>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97274271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ABB22AD-DA7B-73AE-1F66-31345119900C}"/>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315201 w 12186352"/>
              <a:gd name="csY0" fmla="*/ 1858587 h 6854823"/>
              <a:gd name="csX1" fmla="*/ 7315201 w 12186352"/>
              <a:gd name="csY1" fmla="*/ 6397626 h 6854823"/>
              <a:gd name="csX2" fmla="*/ 2 w 12186352"/>
              <a:gd name="csY2" fmla="*/ 6397626 h 6854823"/>
              <a:gd name="csX3" fmla="*/ 2 w 12186352"/>
              <a:gd name="csY3" fmla="*/ 1858587 h 6854823"/>
              <a:gd name="csX4" fmla="*/ 457201 w 12186352"/>
              <a:gd name="csY4" fmla="*/ 1858587 h 6854823"/>
              <a:gd name="csX5" fmla="*/ 6533074 w 12186352"/>
              <a:gd name="csY5" fmla="*/ 1858587 h 6854823"/>
              <a:gd name="csX6" fmla="*/ 12186352 w 12186352"/>
              <a:gd name="csY6" fmla="*/ 0 h 6854823"/>
              <a:gd name="csX7" fmla="*/ 0 w 12186352"/>
              <a:gd name="csY7" fmla="*/ 0 h 6854823"/>
              <a:gd name="csX8" fmla="*/ 0 w 12186352"/>
              <a:gd name="csY8" fmla="*/ 6854823 h 6854823"/>
              <a:gd name="csX9" fmla="*/ 12186352 w 12186352"/>
              <a:gd name="csY9"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86352" h="6854823">
                <a:moveTo>
                  <a:pt x="7315201" y="1858587"/>
                </a:moveTo>
                <a:lnTo>
                  <a:pt x="7315201" y="6397626"/>
                </a:lnTo>
                <a:lnTo>
                  <a:pt x="2" y="6397626"/>
                </a:lnTo>
                <a:lnTo>
                  <a:pt x="2" y="1858587"/>
                </a:lnTo>
                <a:lnTo>
                  <a:pt x="457201" y="1858587"/>
                </a:lnTo>
                <a:lnTo>
                  <a:pt x="6533074"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457200" y="497349"/>
            <a:ext cx="11277599" cy="914400"/>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C195F3F8-9E31-7F42-8188-F6043F071A39}" type="datetime1">
              <a:rPr lang="en-US" smtClean="0"/>
              <a:t>1/31/2026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5999" y="76201"/>
            <a:ext cx="6019800" cy="380999"/>
          </a:xfrm>
        </p:spPr>
        <p:txBody>
          <a:bodyPr/>
          <a:lstStyle/>
          <a:p>
            <a:r>
              <a:rPr lang="en-US" dirty="0"/>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1" y="1861761"/>
            <a:ext cx="3886199"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5">
            <a:extLst>
              <a:ext uri="{FF2B5EF4-FFF2-40B4-BE49-F238E27FC236}">
                <a16:creationId xmlns:a16="http://schemas.microsoft.com/office/drawing/2014/main" id="{9BB8F855-8399-5C2F-8FFE-3445E6ACC133}"/>
              </a:ext>
            </a:extLst>
          </p:cNvPr>
          <p:cNvSpPr>
            <a:spLocks noGrp="1"/>
          </p:cNvSpPr>
          <p:nvPr>
            <p:ph type="pic" sz="quarter" idx="13" hasCustomPrompt="1"/>
          </p:nvPr>
        </p:nvSpPr>
        <p:spPr>
          <a:xfrm>
            <a:off x="4876800" y="1861761"/>
            <a:ext cx="7315199" cy="4539039"/>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5078864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870277-9BEA-773F-5ABC-0478C95CF73B}"/>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6854823 h 6854823"/>
              <a:gd name="csX3" fmla="*/ 0 w 12186352"/>
              <a:gd name="csY3" fmla="*/ 6854823 h 6854823"/>
              <a:gd name="csX4" fmla="*/ 0 w 12186352"/>
              <a:gd name="csY4" fmla="*/ 6377154 h 6854823"/>
              <a:gd name="csX5" fmla="*/ 6527422 w 12186352"/>
              <a:gd name="csY5" fmla="*/ 6377154 h 6854823"/>
              <a:gd name="csX6" fmla="*/ 6527422 w 12186352"/>
              <a:gd name="csY6" fmla="*/ 1858587 h 6854823"/>
              <a:gd name="csX7" fmla="*/ 0 w 12186352"/>
              <a:gd name="csY7" fmla="*/ 1858587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6854823"/>
                </a:lnTo>
                <a:lnTo>
                  <a:pt x="0" y="6854823"/>
                </a:lnTo>
                <a:lnTo>
                  <a:pt x="0" y="6377154"/>
                </a:lnTo>
                <a:lnTo>
                  <a:pt x="6527422" y="6377154"/>
                </a:lnTo>
                <a:lnTo>
                  <a:pt x="6527422" y="1858587"/>
                </a:lnTo>
                <a:lnTo>
                  <a:pt x="0" y="1858587"/>
                </a:lnTo>
                <a:close/>
              </a:path>
            </a:pathLst>
          </a:custGeom>
        </p:spPr>
      </p:pic>
      <p:sp>
        <p:nvSpPr>
          <p:cNvPr id="7" name="Title 1">
            <a:extLst>
              <a:ext uri="{FF2B5EF4-FFF2-40B4-BE49-F238E27FC236}">
                <a16:creationId xmlns:a16="http://schemas.microsoft.com/office/drawing/2014/main" id="{C5CBF9ED-624B-FB83-6E83-BB42410F285F}"/>
              </a:ext>
            </a:extLst>
          </p:cNvPr>
          <p:cNvSpPr>
            <a:spLocks noGrp="1"/>
          </p:cNvSpPr>
          <p:nvPr>
            <p:ph type="title"/>
          </p:nvPr>
        </p:nvSpPr>
        <p:spPr>
          <a:xfrm>
            <a:off x="457200" y="490162"/>
            <a:ext cx="11277597" cy="914400"/>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AE8BA31F-10E3-B74C-A113-9DB8A6700F67}" type="datetime1">
              <a:rPr lang="en-US" smtClean="0"/>
              <a:t>1/31/2026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1" y="76201"/>
            <a:ext cx="6019798" cy="380999"/>
          </a:xfrm>
        </p:spPr>
        <p:txBody>
          <a:bodyPr/>
          <a:lstStyle/>
          <a:p>
            <a:r>
              <a:rPr lang="en-US" dirty="0"/>
              <a:t>Sample Footer Text</a:t>
            </a:r>
          </a:p>
        </p:txBody>
      </p:sp>
      <p:sp>
        <p:nvSpPr>
          <p:cNvPr id="8" name="Picture Placeholder 11">
            <a:extLst>
              <a:ext uri="{FF2B5EF4-FFF2-40B4-BE49-F238E27FC236}">
                <a16:creationId xmlns:a16="http://schemas.microsoft.com/office/drawing/2014/main" id="{9BCDC3DB-8BBB-CC92-23DB-44BEC6BD61F7}"/>
              </a:ext>
            </a:extLst>
          </p:cNvPr>
          <p:cNvSpPr>
            <a:spLocks noGrp="1"/>
          </p:cNvSpPr>
          <p:nvPr>
            <p:ph type="pic" sz="quarter" idx="19" hasCustomPrompt="1"/>
          </p:nvPr>
        </p:nvSpPr>
        <p:spPr>
          <a:xfrm>
            <a:off x="0" y="1861761"/>
            <a:ext cx="6533071" cy="451856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6" name="Content Placeholder 7">
            <a:extLst>
              <a:ext uri="{FF2B5EF4-FFF2-40B4-BE49-F238E27FC236}">
                <a16:creationId xmlns:a16="http://schemas.microsoft.com/office/drawing/2014/main" id="{7C7B1CAB-4A9F-B8E9-3C1E-15C58564C1FF}"/>
              </a:ext>
            </a:extLst>
          </p:cNvPr>
          <p:cNvSpPr>
            <a:spLocks noGrp="1"/>
          </p:cNvSpPr>
          <p:nvPr>
            <p:ph sz="quarter" idx="18"/>
          </p:nvPr>
        </p:nvSpPr>
        <p:spPr>
          <a:xfrm>
            <a:off x="6990270" y="1861761"/>
            <a:ext cx="4744527"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744199" y="6400800"/>
            <a:ext cx="13715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761393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480561" y="457200"/>
            <a:ext cx="7254240" cy="1173708"/>
          </a:xfrm>
          <a:prstGeom prst="rect">
            <a:avLst/>
          </a:prstGeom>
        </p:spPr>
        <p:txBody>
          <a:bodyPr anchor="b"/>
          <a:lstStyle/>
          <a:p>
            <a:r>
              <a:rPr lang="en-US" dirty="0"/>
              <a:t>Click to edit Master title style</a:t>
            </a:r>
          </a:p>
        </p:txBody>
      </p:sp>
      <p:sp>
        <p:nvSpPr>
          <p:cNvPr id="12" name="Date Placeholder 3">
            <a:extLst>
              <a:ext uri="{FF2B5EF4-FFF2-40B4-BE49-F238E27FC236}">
                <a16:creationId xmlns:a16="http://schemas.microsoft.com/office/drawing/2014/main" id="{CACEC350-F243-8E48-2F30-905D6999DFE7}"/>
              </a:ext>
            </a:extLst>
          </p:cNvPr>
          <p:cNvSpPr>
            <a:spLocks noGrp="1"/>
          </p:cNvSpPr>
          <p:nvPr>
            <p:ph type="dt" sz="half" idx="15"/>
          </p:nvPr>
        </p:nvSpPr>
        <p:spPr>
          <a:xfrm>
            <a:off x="76200" y="76200"/>
            <a:ext cx="1295401" cy="380999"/>
          </a:xfrm>
        </p:spPr>
        <p:txBody>
          <a:bodyPr/>
          <a:lstStyle/>
          <a:p>
            <a:fld id="{3596BBB1-49AB-C544-9861-84EE6CF53403}" type="datetime1">
              <a:rPr lang="en-US" smtClean="0"/>
              <a:t>1/31/2026</a:t>
            </a:fld>
            <a:endParaRPr lang="en-US" dirty="0"/>
          </a:p>
        </p:txBody>
      </p:sp>
      <p:sp>
        <p:nvSpPr>
          <p:cNvPr id="10" name="Footer Placeholder 8">
            <a:extLst>
              <a:ext uri="{FF2B5EF4-FFF2-40B4-BE49-F238E27FC236}">
                <a16:creationId xmlns:a16="http://schemas.microsoft.com/office/drawing/2014/main" id="{693FD3A5-45B7-3678-FCC8-1AA49237E7B7}"/>
              </a:ext>
            </a:extLst>
          </p:cNvPr>
          <p:cNvSpPr>
            <a:spLocks noGrp="1"/>
          </p:cNvSpPr>
          <p:nvPr>
            <p:ph type="ftr" sz="quarter" idx="16"/>
          </p:nvPr>
        </p:nvSpPr>
        <p:spPr>
          <a:xfrm>
            <a:off x="6096000" y="76201"/>
            <a:ext cx="6019800" cy="381000"/>
          </a:xfrm>
        </p:spPr>
        <p:txBody>
          <a:bodyPr/>
          <a:lstStyle/>
          <a:p>
            <a:r>
              <a:rPr lang="en-US" dirty="0"/>
              <a:t>Sample Footer Text</a:t>
            </a:r>
          </a:p>
        </p:txBody>
      </p:sp>
      <p:sp>
        <p:nvSpPr>
          <p:cNvPr id="4" name="Picture Placeholder 10">
            <a:extLst>
              <a:ext uri="{FF2B5EF4-FFF2-40B4-BE49-F238E27FC236}">
                <a16:creationId xmlns:a16="http://schemas.microsoft.com/office/drawing/2014/main" id="{90E31D68-951A-2336-5424-6671B2E929A3}"/>
              </a:ext>
            </a:extLst>
          </p:cNvPr>
          <p:cNvSpPr>
            <a:spLocks noGrp="1"/>
          </p:cNvSpPr>
          <p:nvPr>
            <p:ph type="pic" sz="quarter" idx="13" hasCustomPrompt="1"/>
          </p:nvPr>
        </p:nvSpPr>
        <p:spPr>
          <a:xfrm>
            <a:off x="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480560" y="2088108"/>
            <a:ext cx="7254240" cy="4312692"/>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9">
            <a:extLst>
              <a:ext uri="{FF2B5EF4-FFF2-40B4-BE49-F238E27FC236}">
                <a16:creationId xmlns:a16="http://schemas.microsoft.com/office/drawing/2014/main" id="{05F3D1FB-5F83-6976-2FDE-42146116FF09}"/>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079962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0E5C046-40A5-D694-E725-EA0ABE0B80B9}"/>
              </a:ext>
            </a:extLst>
          </p:cNvPr>
          <p:cNvSpPr>
            <a:spLocks noGrp="1"/>
          </p:cNvSpPr>
          <p:nvPr>
            <p:ph type="title"/>
          </p:nvPr>
        </p:nvSpPr>
        <p:spPr>
          <a:xfrm>
            <a:off x="457201" y="457199"/>
            <a:ext cx="7254239" cy="1173712"/>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0"/>
            <a:ext cx="1295400" cy="380999"/>
          </a:xfrm>
        </p:spPr>
        <p:txBody>
          <a:bodyPr/>
          <a:lstStyle/>
          <a:p>
            <a:fld id="{9D50FFC8-0737-944F-9B20-403A2248B3E7}" type="datetime1">
              <a:rPr lang="en-US" smtClean="0"/>
              <a:t>1/31/2026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0" y="76200"/>
            <a:ext cx="6019800" cy="380999"/>
          </a:xfrm>
        </p:spPr>
        <p:txBody>
          <a:bodyPr/>
          <a:lstStyle/>
          <a:p>
            <a:r>
              <a:rPr lang="en-US" dirty="0"/>
              <a:t>Sample Footer Text</a:t>
            </a:r>
          </a:p>
        </p:txBody>
      </p:sp>
      <p:sp>
        <p:nvSpPr>
          <p:cNvPr id="6" name="Content Placeholder 7">
            <a:extLst>
              <a:ext uri="{FF2B5EF4-FFF2-40B4-BE49-F238E27FC236}">
                <a16:creationId xmlns:a16="http://schemas.microsoft.com/office/drawing/2014/main" id="{4E5FB0DF-C175-C1BD-BDD9-3536A2F7E448}"/>
              </a:ext>
            </a:extLst>
          </p:cNvPr>
          <p:cNvSpPr>
            <a:spLocks noGrp="1"/>
          </p:cNvSpPr>
          <p:nvPr>
            <p:ph sz="quarter" idx="18"/>
          </p:nvPr>
        </p:nvSpPr>
        <p:spPr>
          <a:xfrm>
            <a:off x="457201" y="2088108"/>
            <a:ext cx="7254240" cy="4312692"/>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7C20B94A-DE1D-8112-79D8-ADD778F243A9}"/>
              </a:ext>
            </a:extLst>
          </p:cNvPr>
          <p:cNvSpPr>
            <a:spLocks noGrp="1"/>
          </p:cNvSpPr>
          <p:nvPr>
            <p:ph type="pic" sz="quarter" idx="13" hasCustomPrompt="1"/>
          </p:nvPr>
        </p:nvSpPr>
        <p:spPr>
          <a:xfrm>
            <a:off x="816864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44310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160961-81A4-744C-57F0-3A91AB73281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1"/>
            <a:ext cx="5029200" cy="1519083"/>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E45DA7B-3D23-9747-B64E-78D5DD68C6C7}" type="datetime1">
              <a:rPr lang="en-US" smtClean="0"/>
              <a:t>1/31/2026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0" name="Picture Placeholder 10">
            <a:extLst>
              <a:ext uri="{FF2B5EF4-FFF2-40B4-BE49-F238E27FC236}">
                <a16:creationId xmlns:a16="http://schemas.microsoft.com/office/drawing/2014/main" id="{802CE9A6-F23E-1299-6CEA-8B0DBFBE2016}"/>
              </a:ext>
            </a:extLst>
          </p:cNvPr>
          <p:cNvSpPr>
            <a:spLocks noGrp="1"/>
          </p:cNvSpPr>
          <p:nvPr>
            <p:ph type="pic" sz="quarter" idx="13" hasCustomPrompt="1"/>
          </p:nvPr>
        </p:nvSpPr>
        <p:spPr>
          <a:xfrm>
            <a:off x="457200" y="2357283"/>
            <a:ext cx="5029199" cy="4043516"/>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0"/>
            <a:ext cx="5638799" cy="594359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93105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292B07A-D9A0-38E9-B941-74C38124D59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3716844" cy="1919945"/>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3040DD-291F-D14A-B0CD-056B01183946}" type="datetime1">
              <a:rPr lang="en-US" smtClean="0"/>
              <a:t>1/31/2026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115A2C62-B33D-41E9-D363-2E5B5EC4C673}"/>
              </a:ext>
            </a:extLst>
          </p:cNvPr>
          <p:cNvSpPr>
            <a:spLocks noGrp="1"/>
          </p:cNvSpPr>
          <p:nvPr>
            <p:ph type="pic" sz="quarter" idx="13" hasCustomPrompt="1"/>
          </p:nvPr>
        </p:nvSpPr>
        <p:spPr>
          <a:xfrm>
            <a:off x="457200" y="2743200"/>
            <a:ext cx="3716845" cy="3657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9" y="457201"/>
            <a:ext cx="7010401" cy="594359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972491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DD16EBF9-B68A-0B06-1D11-8A73C8F97835}"/>
              </a:ext>
            </a:extLst>
          </p:cNvPr>
          <p:cNvSpPr>
            <a:spLocks noGrp="1"/>
          </p:cNvSpPr>
          <p:nvPr>
            <p:ph type="title"/>
          </p:nvPr>
        </p:nvSpPr>
        <p:spPr>
          <a:xfrm>
            <a:off x="457200" y="5349242"/>
            <a:ext cx="5638800" cy="1051558"/>
          </a:xfrm>
        </p:spPr>
        <p:txBody>
          <a:bodyPr anchor="b"/>
          <a:lstStyle>
            <a:lvl1pPr>
              <a:lnSpc>
                <a:spcPct val="110000"/>
              </a:lnSpc>
              <a:defRPr sz="2000">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F20AA6F4-6FEB-A645-BC84-8FD86BB56A56}" type="datetime1">
              <a:rPr lang="en-US" smtClean="0"/>
              <a:t>1/31/2026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FC49D795-05CD-88A6-65D2-CE59AB098CDC}"/>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19919895"/>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62229AA-0D53-41CE-F2F6-A43A58F408A6}"/>
              </a:ext>
            </a:extLst>
          </p:cNvPr>
          <p:cNvSpPr>
            <a:spLocks noGrp="1"/>
          </p:cNvSpPr>
          <p:nvPr>
            <p:ph type="title"/>
          </p:nvPr>
        </p:nvSpPr>
        <p:spPr>
          <a:xfrm>
            <a:off x="457200" y="5334002"/>
            <a:ext cx="5638800" cy="1066798"/>
          </a:xfrm>
        </p:spPr>
        <p:txBody>
          <a:bodyPr anchor="b"/>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19C1F0A-369C-694C-9034-23649A99EDDB}" type="datetime1">
              <a:rPr lang="en-US" smtClean="0"/>
              <a:t>1/31/2026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2685CAE8-3040-D343-9736-69ED07ADEE28}"/>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998124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F9AC97C7-C18C-1AFB-595D-1164216CB3A0}"/>
              </a:ext>
            </a:extLst>
          </p:cNvPr>
          <p:cNvSpPr>
            <a:spLocks noGrp="1"/>
          </p:cNvSpPr>
          <p:nvPr>
            <p:ph type="title"/>
          </p:nvPr>
        </p:nvSpPr>
        <p:spPr>
          <a:xfrm>
            <a:off x="8991600" y="457200"/>
            <a:ext cx="2743200" cy="5943600"/>
          </a:xfrm>
        </p:spPr>
        <p:txBody>
          <a:bodyPr anchor="ctr"/>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05CB68B-3B3F-204E-812A-7CA74DAAFECC}" type="datetime1">
              <a:rPr lang="en-US" smtClean="0"/>
              <a:t>1/31/2026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Content Placeholder 10">
            <a:extLst>
              <a:ext uri="{FF2B5EF4-FFF2-40B4-BE49-F238E27FC236}">
                <a16:creationId xmlns:a16="http://schemas.microsoft.com/office/drawing/2014/main" id="{0794CDEE-6628-D8C2-4DD7-A2AF2B148E2B}"/>
              </a:ext>
            </a:extLst>
          </p:cNvPr>
          <p:cNvSpPr>
            <a:spLocks noGrp="1"/>
          </p:cNvSpPr>
          <p:nvPr>
            <p:ph sz="quarter" idx="14" hasCustomPrompt="1"/>
          </p:nvPr>
        </p:nvSpPr>
        <p:spPr>
          <a:xfrm>
            <a:off x="457200" y="762000"/>
            <a:ext cx="8077200" cy="5943600"/>
          </a:xfrm>
        </p:spPr>
        <p:txBody>
          <a:bodyPr anchor="ctr"/>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75854323"/>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963A025-A5F8-BC41-857C-074A129970DD}" type="datetime1">
              <a:rPr lang="en-US" smtClean="0"/>
              <a:t>1/31/2026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ctr">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706717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7E1A02B-DBB0-A046-81B0-FEDCAC57CE71}" type="datetime1">
              <a:rPr lang="en-US" smtClean="0"/>
              <a:t>1/31/2026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b">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28282128"/>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192E1041-C021-CE4A-9D2F-9EE16EB193AE}" type="datetime1">
              <a:rPr lang="en-US" smtClean="0"/>
              <a:t>1/31/2026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t">
            <a:normAutofit/>
          </a:bodyPr>
          <a:lstStyle>
            <a:lvl1pPr marL="0" indent="0">
              <a:lnSpc>
                <a:spcPct val="90000"/>
              </a:lnSpc>
              <a:spcBef>
                <a:spcPts val="0"/>
              </a:spcBef>
              <a:buNone/>
              <a:defRPr sz="6000" b="0">
                <a:solidFill>
                  <a:schemeClr val="tx1"/>
                </a:solidFill>
                <a:latin typeface="+mj-lt"/>
              </a:defRPr>
            </a:lvl1pPr>
            <a:lvl2pPr marL="228600" indent="0">
              <a:lnSpc>
                <a:spcPct val="90000"/>
              </a:lnSpc>
              <a:spcBef>
                <a:spcPts val="0"/>
              </a:spcBef>
              <a:buNone/>
              <a:defRPr sz="6000" b="0">
                <a:solidFill>
                  <a:schemeClr val="tx1"/>
                </a:solidFill>
                <a:latin typeface="+mj-lt"/>
              </a:defRPr>
            </a:lvl2pPr>
            <a:lvl3pPr marL="457200" indent="0">
              <a:lnSpc>
                <a:spcPct val="90000"/>
              </a:lnSpc>
              <a:spcBef>
                <a:spcPts val="0"/>
              </a:spcBef>
              <a:buNone/>
              <a:defRPr sz="6000" b="0">
                <a:solidFill>
                  <a:schemeClr val="tx1"/>
                </a:solidFill>
                <a:latin typeface="+mj-lt"/>
              </a:defRPr>
            </a:lvl3pPr>
            <a:lvl4pPr marL="685800" indent="0">
              <a:lnSpc>
                <a:spcPct val="90000"/>
              </a:lnSpc>
              <a:spcBef>
                <a:spcPts val="0"/>
              </a:spcBef>
              <a:buNone/>
              <a:defRPr sz="6000" b="0">
                <a:solidFill>
                  <a:schemeClr val="tx1"/>
                </a:solidFill>
                <a:latin typeface="+mj-lt"/>
              </a:defRPr>
            </a:lvl4pPr>
            <a:lvl5pPr marL="914400" indent="0">
              <a:lnSpc>
                <a:spcPct val="90000"/>
              </a:lnSpc>
              <a:spcBef>
                <a:spcPts val="0"/>
              </a:spcBef>
              <a:buNone/>
              <a:defRPr sz="6000" b="0">
                <a:solidFill>
                  <a:schemeClr val="tx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817368"/>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991598" y="457200"/>
            <a:ext cx="2743200" cy="5943600"/>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B19110DB-B309-8C4D-B2B7-2B6318BF3864}" type="datetime1">
              <a:rPr lang="en-US" smtClean="0"/>
              <a:t>1/31/2026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7">
            <a:extLst>
              <a:ext uri="{FF2B5EF4-FFF2-40B4-BE49-F238E27FC236}">
                <a16:creationId xmlns:a16="http://schemas.microsoft.com/office/drawing/2014/main" id="{F2B13095-060E-7C64-69EA-E7821D5019ED}"/>
              </a:ext>
            </a:extLst>
          </p:cNvPr>
          <p:cNvSpPr>
            <a:spLocks noGrp="1"/>
          </p:cNvSpPr>
          <p:nvPr>
            <p:ph sz="quarter" idx="15" hasCustomPrompt="1"/>
          </p:nvPr>
        </p:nvSpPr>
        <p:spPr>
          <a:xfrm>
            <a:off x="457200" y="457200"/>
            <a:ext cx="7848600" cy="5943600"/>
          </a:xfrm>
        </p:spPr>
        <p:txBody>
          <a:bodyPr anchor="t"/>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275355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457200" y="5937084"/>
            <a:ext cx="9144000" cy="466344"/>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FCCD263F-17D1-DD49-AE75-3B385E0CFFA9}" type="datetime1">
              <a:rPr lang="en-US" smtClean="0"/>
              <a:t>1/31/2026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Content Placeholder 7">
            <a:extLst>
              <a:ext uri="{FF2B5EF4-FFF2-40B4-BE49-F238E27FC236}">
                <a16:creationId xmlns:a16="http://schemas.microsoft.com/office/drawing/2014/main" id="{58A7DA2E-06EC-D8CE-ACE3-28D98B5AC26C}"/>
              </a:ext>
            </a:extLst>
          </p:cNvPr>
          <p:cNvSpPr>
            <a:spLocks noGrp="1"/>
          </p:cNvSpPr>
          <p:nvPr>
            <p:ph sz="quarter" idx="15" hasCustomPrompt="1"/>
          </p:nvPr>
        </p:nvSpPr>
        <p:spPr>
          <a:xfrm>
            <a:off x="457200" y="454572"/>
            <a:ext cx="11277600" cy="5417308"/>
          </a:xfrm>
        </p:spPr>
        <p:txBody>
          <a:bodyPr anchor="b"/>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916227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763000" y="457200"/>
            <a:ext cx="2971800" cy="5946228"/>
          </a:xfrm>
          <a:prstGeom prst="rect">
            <a:avLst/>
          </a:prstGeom>
        </p:spPr>
        <p:txBody>
          <a:bodyPr anchor="ctr">
            <a:normAutofit/>
          </a:bodyPr>
          <a:lstStyle>
            <a:lvl1pPr>
              <a:lnSpc>
                <a:spcPct val="120000"/>
              </a:lnSpc>
              <a:defRPr sz="2000" b="0" i="0" spc="0">
                <a:solidFill>
                  <a:schemeClr val="tx1"/>
                </a:solidFill>
                <a:latin typeface="+mn-lt"/>
              </a:defRPr>
            </a:lvl1pPr>
          </a:lstStyle>
          <a:p>
            <a:r>
              <a:rPr lang="en-US" dirty="0"/>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1664374B-BFF6-3C4D-A435-E85D19EC7285}" type="datetime1">
              <a:rPr lang="en-US" smtClean="0"/>
              <a:t>1/31/2026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3BD97FB3-18C6-51BD-4179-B642A2A709C5}"/>
              </a:ext>
            </a:extLst>
          </p:cNvPr>
          <p:cNvSpPr>
            <a:spLocks noGrp="1"/>
          </p:cNvSpPr>
          <p:nvPr>
            <p:ph sz="quarter" idx="15" hasCustomPrompt="1"/>
          </p:nvPr>
        </p:nvSpPr>
        <p:spPr>
          <a:xfrm>
            <a:off x="457200" y="457200"/>
            <a:ext cx="7848600" cy="5943600"/>
          </a:xfrm>
        </p:spPr>
        <p:txBody>
          <a:bodyPr anchor="ctr"/>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552373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457201" y="457201"/>
            <a:ext cx="11277598" cy="914400"/>
          </a:xfrm>
          <a:prstGeom prst="rect">
            <a:avLst/>
          </a:prstGeo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9C4FF47-482A-5A42-BC2B-D17760A60D7C}" type="datetime1">
              <a:rPr lang="en-US" smtClean="0"/>
              <a:t>1/31/2026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825624"/>
            <a:ext cx="5230495" cy="4575175"/>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230493" cy="4575174"/>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89870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457200" y="457200"/>
            <a:ext cx="11277600" cy="914400"/>
          </a:xfrm>
          <a:prstGeom prst="rect">
            <a:avLst/>
          </a:prstGeo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0E0A138-5AFC-9A4D-A014-96125C4D80CC}" type="datetime1">
              <a:rPr lang="en-US" smtClean="0"/>
              <a:t>1/31/2026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23847"/>
            <a:ext cx="5227320" cy="354857"/>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286000"/>
            <a:ext cx="522763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1" y="1823847"/>
            <a:ext cx="5233417" cy="354858"/>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286000"/>
            <a:ext cx="523370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141906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1"/>
            <a:ext cx="11277600" cy="914400"/>
          </a:xfrm>
          <a:prstGeom prst="rect">
            <a:avLst/>
          </a:prstGeo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BF1EA9-87CF-8343-9776-D1D52A179B2E}" type="datetime1">
              <a:rPr lang="en-US" smtClean="0"/>
              <a:t>1/31/2026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08221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89506F-D76B-DF43-A96B-B8A73BD734D5}" type="datetime1">
              <a:rPr lang="en-US" smtClean="0"/>
              <a:t>1/31/2026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423799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B8EF09-85B4-2CB8-82A3-EECAE01D45AD}"/>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200" y="457201"/>
            <a:ext cx="3810000" cy="16764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2777B30-84C4-E14A-AD9D-99C744B58D2B}" type="datetime1">
              <a:rPr lang="en-US" smtClean="0"/>
              <a:t>1/31/2026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458616"/>
            <a:ext cx="3810000" cy="3942184"/>
          </a:xfrm>
        </p:spPr>
        <p:txBody>
          <a:bodyPr anchor="t">
            <a:normAutofit/>
          </a:bodyPr>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457200"/>
            <a:ext cx="6934200" cy="5943600"/>
          </a:xfrm>
        </p:spPr>
        <p:txBody>
          <a:bodyPr vert="horz" lIns="91440" tIns="45720" rIns="91440" bIns="45720" rtlCol="0">
            <a:normAutofit/>
          </a:bodyPr>
          <a:lstStyle>
            <a:lvl1pPr>
              <a:spcBef>
                <a:spcPts val="0"/>
              </a:spcBef>
              <a:defRPr lang="en-US" b="0" dirty="0"/>
            </a:lvl1pPr>
            <a:lvl2pPr>
              <a:spcBef>
                <a:spcPts val="0"/>
              </a:spcBef>
              <a:defRPr lang="en-US" dirty="0"/>
            </a:lvl2pPr>
            <a:lvl3pPr>
              <a:spcBef>
                <a:spcPts val="0"/>
              </a:spcBef>
              <a:defRPr lang="en-US" dirty="0"/>
            </a:lvl3pPr>
            <a:lvl4pPr>
              <a:spcBef>
                <a:spcPts val="0"/>
              </a:spcBef>
              <a:defRPr lang="en-US" dirty="0"/>
            </a:lvl4pPr>
            <a:lvl5pPr>
              <a:spcBef>
                <a:spcPts val="0"/>
              </a:spcBef>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587956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0935E8B-BB8A-9B48-4EC5-768D5E3A1DD2}"/>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467602 w 12186353"/>
              <a:gd name="csY0" fmla="*/ 454026 h 6854823"/>
              <a:gd name="csX1" fmla="*/ 7467602 w 12186353"/>
              <a:gd name="csY1" fmla="*/ 6397626 h 6854823"/>
              <a:gd name="csX2" fmla="*/ 457203 w 12186353"/>
              <a:gd name="csY2" fmla="*/ 6397626 h 6854823"/>
              <a:gd name="csX3" fmla="*/ 457203 w 12186353"/>
              <a:gd name="csY3" fmla="*/ 454026 h 6854823"/>
              <a:gd name="csX4" fmla="*/ 12186353 w 12186353"/>
              <a:gd name="csY4" fmla="*/ 0 h 6854823"/>
              <a:gd name="csX5" fmla="*/ 0 w 12186353"/>
              <a:gd name="csY5" fmla="*/ 0 h 6854823"/>
              <a:gd name="csX6" fmla="*/ 0 w 12186353"/>
              <a:gd name="csY6" fmla="*/ 6854823 h 6854823"/>
              <a:gd name="csX7" fmla="*/ 12186353 w 12186353"/>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3">
                <a:moveTo>
                  <a:pt x="7467602" y="454026"/>
                </a:moveTo>
                <a:lnTo>
                  <a:pt x="7467602" y="6397626"/>
                </a:lnTo>
                <a:lnTo>
                  <a:pt x="457203" y="6397626"/>
                </a:lnTo>
                <a:lnTo>
                  <a:pt x="457203" y="454026"/>
                </a:lnTo>
                <a:close/>
                <a:moveTo>
                  <a:pt x="12186353" y="0"/>
                </a:moveTo>
                <a:lnTo>
                  <a:pt x="0" y="0"/>
                </a:lnTo>
                <a:lnTo>
                  <a:pt x="0" y="6854823"/>
                </a:lnTo>
                <a:lnTo>
                  <a:pt x="12186353" y="6854823"/>
                </a:lnTo>
                <a:close/>
              </a:path>
            </a:pathLst>
          </a:custGeom>
        </p:spPr>
      </p:pic>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457200"/>
            <a:ext cx="3810000" cy="29718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AB2B00D-D41F-AF4D-9311-8F7464F57478}" type="datetime1">
              <a:rPr lang="en-US" smtClean="0"/>
              <a:t>1/31/2026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3810000"/>
            <a:ext cx="3810000" cy="2590800"/>
          </a:xfrm>
        </p:spPr>
        <p:txBody>
          <a:bodyPr anchor="b"/>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2">
            <a:extLst>
              <a:ext uri="{FF2B5EF4-FFF2-40B4-BE49-F238E27FC236}">
                <a16:creationId xmlns:a16="http://schemas.microsoft.com/office/drawing/2014/main" id="{0D567F4A-97DA-0A34-ED21-0C003CA8AF5F}"/>
              </a:ext>
            </a:extLst>
          </p:cNvPr>
          <p:cNvSpPr>
            <a:spLocks noGrp="1"/>
          </p:cNvSpPr>
          <p:nvPr>
            <p:ph type="pic" idx="1" hasCustomPrompt="1"/>
          </p:nvPr>
        </p:nvSpPr>
        <p:spPr>
          <a:xfrm>
            <a:off x="4724400" y="457200"/>
            <a:ext cx="7010399" cy="5943600"/>
          </a:xfrm>
          <a:blipFill>
            <a:blip r:embed="rId3" cstate="email">
              <a:alphaModFix amt="60000"/>
              <a:extLst>
                <a:ext uri="{28A0092B-C50C-407E-A947-70E740481C1C}">
                  <a14:useLocalDpi xmlns:a14="http://schemas.microsoft.com/office/drawing/2010/main"/>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249609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087CE1-ACE0-D6A3-D3B7-DF95BF55950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8305801" cy="2971800"/>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D1D72C-8184-5840-B481-389540A01A17}" type="datetime1">
              <a:rPr lang="en-US" smtClean="0"/>
              <a:t>1/31/2026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198" y="3733800"/>
            <a:ext cx="11277599" cy="2666998"/>
          </a:xfrm>
        </p:spPr>
        <p:txBody>
          <a:bodyPr/>
          <a:lstStyle>
            <a:lvl1pPr marL="0" indent="0">
              <a:lnSpc>
                <a:spcPct val="100000"/>
              </a:lnSpc>
              <a:spcBef>
                <a:spcPts val="0"/>
              </a:spcBef>
              <a:buNone/>
              <a:defRPr>
                <a:solidFill>
                  <a:schemeClr val="tx1"/>
                </a:solidFill>
              </a:defRPr>
            </a:lvl1pPr>
            <a:lvl2pPr marL="228600" indent="0">
              <a:lnSpc>
                <a:spcPct val="100000"/>
              </a:lnSpc>
              <a:spcBef>
                <a:spcPts val="0"/>
              </a:spcBef>
              <a:buNone/>
              <a:defRPr>
                <a:solidFill>
                  <a:schemeClr val="tx1"/>
                </a:solidFill>
              </a:defRPr>
            </a:lvl2pPr>
            <a:lvl3pPr marL="457200" indent="0">
              <a:lnSpc>
                <a:spcPct val="100000"/>
              </a:lnSpc>
              <a:spcBef>
                <a:spcPts val="0"/>
              </a:spcBef>
              <a:buNone/>
              <a:defRPr>
                <a:solidFill>
                  <a:schemeClr val="tx1"/>
                </a:solidFill>
              </a:defRPr>
            </a:lvl3pPr>
            <a:lvl4pPr marL="685800" indent="0">
              <a:lnSpc>
                <a:spcPct val="100000"/>
              </a:lnSpc>
              <a:spcBef>
                <a:spcPts val="0"/>
              </a:spcBef>
              <a:buNone/>
              <a:defRPr>
                <a:solidFill>
                  <a:schemeClr val="tx1"/>
                </a:solidFill>
              </a:defRPr>
            </a:lvl4pPr>
            <a:lvl5pPr marL="914400" indent="0">
              <a:lnSpc>
                <a:spcPct val="100000"/>
              </a:lnSpc>
              <a:spcBef>
                <a:spcPts val="0"/>
              </a:spcBef>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4166167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DF1DC1-62BC-8F1C-64E5-A5FBEAB8F4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5638799" cy="2971800"/>
          </a:xfrm>
          <a:prstGeom prst="rect">
            <a:avLst/>
          </a:prstGeom>
        </p:spPr>
        <p:txBody>
          <a:bodyPr anchor="t">
            <a:noAutofit/>
          </a:bodyPr>
          <a:lstStyle>
            <a:lvl1pPr>
              <a:defRPr sz="6000"/>
            </a:lvl1pPr>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2C1FE-0BA1-514C-8495-D43A7528783D}" type="datetime1">
              <a:rPr lang="en-US" smtClean="0"/>
              <a:t>1/31/2026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1" y="3810000"/>
            <a:ext cx="8382000" cy="2590800"/>
          </a:xfrm>
        </p:spPr>
        <p:txBody>
          <a:bodyPr anchor="b">
            <a:normAutofit/>
          </a:bodyPr>
          <a:lstStyle>
            <a:lvl1pPr marL="0" indent="0">
              <a:lnSpc>
                <a:spcPct val="100000"/>
              </a:lnSpc>
              <a:spcBef>
                <a:spcPts val="0"/>
              </a:spcBef>
              <a:buNone/>
              <a:defRPr sz="2000"/>
            </a:lvl1pPr>
            <a:lvl2pPr marL="228600" indent="0">
              <a:lnSpc>
                <a:spcPct val="100000"/>
              </a:lnSpc>
              <a:spcBef>
                <a:spcPts val="0"/>
              </a:spcBef>
              <a:buNone/>
              <a:defRPr sz="2000"/>
            </a:lvl2pPr>
            <a:lvl3pPr marL="457200" indent="0">
              <a:lnSpc>
                <a:spcPct val="100000"/>
              </a:lnSpc>
              <a:spcBef>
                <a:spcPts val="0"/>
              </a:spcBef>
              <a:buNone/>
              <a:defRPr sz="2000"/>
            </a:lvl3pPr>
            <a:lvl4pPr marL="685800" indent="0">
              <a:lnSpc>
                <a:spcPct val="100000"/>
              </a:lnSpc>
              <a:spcBef>
                <a:spcPts val="0"/>
              </a:spcBef>
              <a:buNone/>
              <a:defRPr sz="2000"/>
            </a:lvl4pPr>
            <a:lvl5pPr marL="914400" indent="0">
              <a:lnSpc>
                <a:spcPct val="100000"/>
              </a:lnSpc>
              <a:spcBef>
                <a:spcPts val="0"/>
              </a:spcBef>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13855209"/>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AA4506-A915-448E-9713-B5DD9F6916BA}"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6F2F1A-C623-4ADB-A14D-87DE4DB5B627}" type="slidenum">
              <a:rPr lang="en-US" smtClean="0"/>
              <a:t>‹#›</a:t>
            </a:fld>
            <a:endParaRPr lang="en-US"/>
          </a:p>
        </p:txBody>
      </p:sp>
    </p:spTree>
    <p:extLst>
      <p:ext uri="{BB962C8B-B14F-4D97-AF65-F5344CB8AC3E}">
        <p14:creationId xmlns:p14="http://schemas.microsoft.com/office/powerpoint/2010/main" val="43027550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1"/>
            <a:ext cx="11277600" cy="9144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0" y="1752601"/>
            <a:ext cx="11277599" cy="46481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76200" y="76201"/>
            <a:ext cx="1447800" cy="381000"/>
          </a:xfrm>
          <a:prstGeom prst="rect">
            <a:avLst/>
          </a:prstGeom>
        </p:spPr>
        <p:txBody>
          <a:bodyPr vert="horz" lIns="91440" tIns="45720" rIns="91440" bIns="45720" rtlCol="0" anchor="t"/>
          <a:lstStyle>
            <a:lvl1pPr algn="l" rtl="0">
              <a:defRPr sz="900" b="0" i="0" cap="all" spc="50" baseline="0">
                <a:solidFill>
                  <a:schemeClr val="tx1"/>
                </a:solidFill>
                <a:latin typeface="+mn-lt"/>
              </a:defRPr>
            </a:lvl1pPr>
          </a:lstStyle>
          <a:p>
            <a:fld id="{ABF82D58-E94F-DA46-9A9B-DBAB917AB2DD}" type="datetime1">
              <a:rPr lang="en-US" smtClean="0"/>
              <a:pPr/>
              <a:t>1/31/2026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096000" y="76201"/>
            <a:ext cx="6019800" cy="381000"/>
          </a:xfrm>
          <a:prstGeom prst="rect">
            <a:avLst/>
          </a:prstGeom>
        </p:spPr>
        <p:txBody>
          <a:bodyPr vert="horz" lIns="91440" tIns="45720" rIns="91440" bIns="45720" rtlCol="0" anchor="t"/>
          <a:lstStyle>
            <a:lvl1pPr algn="r" rtl="0">
              <a:defRPr sz="900" b="0" i="0" cap="all" spc="50"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20400" y="6400800"/>
            <a:ext cx="1295400" cy="381000"/>
          </a:xfrm>
          <a:prstGeom prst="rect">
            <a:avLst/>
          </a:prstGeom>
        </p:spPr>
        <p:txBody>
          <a:bodyPr vert="horz" lIns="91440" tIns="45720" rIns="91440" bIns="45720" rtlCol="0" anchor="b"/>
          <a:lstStyle>
            <a:lvl1pPr algn="r" rtl="0">
              <a:defRPr sz="900" b="0" i="0" cap="all" spc="50"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5406036"/>
      </p:ext>
    </p:extLst>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 id="2147483991" r:id="rId12"/>
    <p:sldLayoutId id="2147483992" r:id="rId13"/>
    <p:sldLayoutId id="2147483993" r:id="rId14"/>
    <p:sldLayoutId id="2147483994" r:id="rId15"/>
    <p:sldLayoutId id="2147483995" r:id="rId16"/>
    <p:sldLayoutId id="2147483996" r:id="rId17"/>
    <p:sldLayoutId id="2147483997" r:id="rId18"/>
    <p:sldLayoutId id="2147483998" r:id="rId19"/>
    <p:sldLayoutId id="2147483999" r:id="rId20"/>
    <p:sldLayoutId id="2147484000" r:id="rId21"/>
    <p:sldLayoutId id="2147484001" r:id="rId22"/>
    <p:sldLayoutId id="2147484002" r:id="rId23"/>
    <p:sldLayoutId id="2147484003" r:id="rId24"/>
    <p:sldLayoutId id="2147484004" r:id="rId25"/>
    <p:sldLayoutId id="2147484005" r:id="rId26"/>
    <p:sldLayoutId id="2147484006" r:id="rId27"/>
    <p:sldLayoutId id="2147484007" r:id="rId28"/>
    <p:sldLayoutId id="2147484008" r:id="rId29"/>
    <p:sldLayoutId id="2147484009" r:id="rId30"/>
    <p:sldLayoutId id="2147484010" r:id="rId31"/>
    <p:sldLayoutId id="2147484011" r:id="rId32"/>
    <p:sldLayoutId id="2147484012" r:id="rId33"/>
    <p:sldLayoutId id="2147484013" r:id="rId34"/>
    <p:sldLayoutId id="2147484014" r:id="rId35"/>
    <p:sldLayoutId id="2147484015" r:id="rId36"/>
    <p:sldLayoutId id="2147484016" r:id="rId37"/>
    <p:sldLayoutId id="2147484017" r:id="rId38"/>
    <p:sldLayoutId id="2147484018" r:id="rId39"/>
    <p:sldLayoutId id="2147484019" r:id="rId40"/>
    <p:sldLayoutId id="2147484020" r:id="rId41"/>
    <p:sldLayoutId id="2147484021" r:id="rId42"/>
    <p:sldLayoutId id="2147484022" r:id="rId43"/>
    <p:sldLayoutId id="2147484023" r:id="rId44"/>
    <p:sldLayoutId id="2147484024" r:id="rId45"/>
    <p:sldLayoutId id="2147484025" r:id="rId46"/>
    <p:sldLayoutId id="2147484026" r:id="rId47"/>
    <p:sldLayoutId id="2147484027" r:id="rId48"/>
    <p:sldLayoutId id="2147484028" r:id="rId49"/>
    <p:sldLayoutId id="2147484029" r:id="rId50"/>
    <p:sldLayoutId id="2147484030" r:id="rId51"/>
    <p:sldLayoutId id="2147484031" r:id="rId52"/>
    <p:sldLayoutId id="2147484032" r:id="rId53"/>
    <p:sldLayoutId id="2147484033" r:id="rId54"/>
  </p:sldLayoutIdLst>
  <p:hf sldNum="0" hdr="0" ftr="0" dt="0"/>
  <p:txStyles>
    <p:titleStyle>
      <a:lvl1pPr algn="l" defTabSz="914400" rtl="0" eaLnBrk="1" latinLnBrk="0" hangingPunct="1">
        <a:lnSpc>
          <a:spcPct val="80000"/>
        </a:lnSpc>
        <a:spcBef>
          <a:spcPct val="0"/>
        </a:spcBef>
        <a:buNone/>
        <a:defRPr sz="3600" b="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31" orient="horz" pos="48" userDrawn="1">
          <p15:clr>
            <a:srgbClr val="F26B43"/>
          </p15:clr>
        </p15:guide>
        <p15:guide id="32" orient="horz" pos="4272" userDrawn="1">
          <p15:clr>
            <a:srgbClr val="F26B43"/>
          </p15:clr>
        </p15:guide>
        <p15:guide id="33" pos="48" userDrawn="1">
          <p15:clr>
            <a:srgbClr val="F26B43"/>
          </p15:clr>
        </p15:guide>
        <p15:guide id="34" pos="7632" userDrawn="1">
          <p15:clr>
            <a:srgbClr val="F26B43"/>
          </p15:clr>
        </p15:guide>
        <p15:guide id="35" orient="horz" pos="288" userDrawn="1">
          <p15:clr>
            <a:srgbClr val="F26B43"/>
          </p15:clr>
        </p15:guide>
        <p15:guide id="36" orient="horz" pos="4032" userDrawn="1">
          <p15:clr>
            <a:srgbClr val="F26B43"/>
          </p15:clr>
        </p15:guide>
        <p15:guide id="37" pos="7392" userDrawn="1">
          <p15:clr>
            <a:srgbClr val="F26B43"/>
          </p15:clr>
        </p15:guide>
        <p15:guide id="38" pos="2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F5CA9-60F2-9599-DE77-99C38E972663}"/>
              </a:ext>
            </a:extLst>
          </p:cNvPr>
          <p:cNvSpPr>
            <a:spLocks noGrp="1"/>
          </p:cNvSpPr>
          <p:nvPr>
            <p:ph type="ctrTitle"/>
          </p:nvPr>
        </p:nvSpPr>
        <p:spPr>
          <a:xfrm>
            <a:off x="457200" y="457200"/>
            <a:ext cx="3886198" cy="4513974"/>
          </a:xfrm>
        </p:spPr>
        <p:txBody>
          <a:bodyPr anchor="t">
            <a:normAutofit/>
          </a:bodyPr>
          <a:lstStyle/>
          <a:p>
            <a:r>
              <a:rPr lang="en-US"/>
              <a:t>Managing Risk in Supply Chains: Frameworks, Strategies &amp; Case Studies</a:t>
            </a:r>
          </a:p>
        </p:txBody>
      </p:sp>
      <p:sp>
        <p:nvSpPr>
          <p:cNvPr id="3" name="Subtitle 2">
            <a:extLst>
              <a:ext uri="{FF2B5EF4-FFF2-40B4-BE49-F238E27FC236}">
                <a16:creationId xmlns:a16="http://schemas.microsoft.com/office/drawing/2014/main" id="{A23E46A5-60F8-C85D-A5D9-F4ABF0F2FDDD}"/>
              </a:ext>
            </a:extLst>
          </p:cNvPr>
          <p:cNvSpPr>
            <a:spLocks noGrp="1"/>
          </p:cNvSpPr>
          <p:nvPr>
            <p:ph type="subTitle" idx="1"/>
          </p:nvPr>
        </p:nvSpPr>
        <p:spPr>
          <a:xfrm>
            <a:off x="457199" y="5425200"/>
            <a:ext cx="3886200" cy="975600"/>
          </a:xfrm>
        </p:spPr>
        <p:txBody>
          <a:bodyPr anchor="b">
            <a:normAutofit/>
          </a:bodyPr>
          <a:lstStyle/>
          <a:p>
            <a:pPr>
              <a:spcAft>
                <a:spcPts val="600"/>
              </a:spcAft>
            </a:pPr>
            <a:r>
              <a:rPr lang="en-US"/>
              <a:t>Approaches to identify and mitigate supply chain risks</a:t>
            </a:r>
          </a:p>
        </p:txBody>
      </p:sp>
      <p:pic>
        <p:nvPicPr>
          <p:cNvPr id="4" name="Picture 3" descr="Internet Network of Connected Devices and Apps.">
            <a:extLst>
              <a:ext uri="{FF2B5EF4-FFF2-40B4-BE49-F238E27FC236}">
                <a16:creationId xmlns:a16="http://schemas.microsoft.com/office/drawing/2014/main" id="{917C1B57-7BC4-4016-BA8E-4C1778D05D0A}"/>
              </a:ext>
            </a:extLst>
          </p:cNvPr>
          <p:cNvPicPr>
            <a:picLocks noChangeAspect="1"/>
          </p:cNvPicPr>
          <p:nvPr/>
        </p:nvPicPr>
        <p:blipFill>
          <a:blip r:embed="rId3"/>
          <a:stretch>
            <a:fillRect/>
          </a:stretch>
        </p:blipFill>
        <p:spPr>
          <a:xfrm>
            <a:off x="4794950" y="963138"/>
            <a:ext cx="7388352" cy="4931724"/>
          </a:xfrm>
          <a:prstGeom prst="rect">
            <a:avLst/>
          </a:prstGeom>
        </p:spPr>
      </p:pic>
    </p:spTree>
    <p:extLst>
      <p:ext uri="{BB962C8B-B14F-4D97-AF65-F5344CB8AC3E}">
        <p14:creationId xmlns:p14="http://schemas.microsoft.com/office/powerpoint/2010/main" val="2545336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4C9F3-741B-FD07-BA8F-986769F933EE}"/>
              </a:ext>
            </a:extLst>
          </p:cNvPr>
          <p:cNvSpPr>
            <a:spLocks noGrp="1"/>
          </p:cNvSpPr>
          <p:nvPr>
            <p:ph type="ctrTitle"/>
          </p:nvPr>
        </p:nvSpPr>
        <p:spPr>
          <a:xfrm>
            <a:off x="457199" y="4619296"/>
            <a:ext cx="9982201" cy="2010103"/>
          </a:xfrm>
        </p:spPr>
        <p:txBody>
          <a:bodyPr anchor="b">
            <a:normAutofit/>
          </a:bodyPr>
          <a:lstStyle/>
          <a:p>
            <a:r>
              <a:rPr lang="en-US" dirty="0"/>
              <a:t>Introduction to Supply Chain Risk</a:t>
            </a:r>
          </a:p>
        </p:txBody>
      </p:sp>
    </p:spTree>
    <p:extLst>
      <p:ext uri="{BB962C8B-B14F-4D97-AF65-F5344CB8AC3E}">
        <p14:creationId xmlns:p14="http://schemas.microsoft.com/office/powerpoint/2010/main" val="19702020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C39D6-2249-745B-7F6C-ED37BEF9B647}"/>
              </a:ext>
            </a:extLst>
          </p:cNvPr>
          <p:cNvSpPr>
            <a:spLocks noGrp="1"/>
          </p:cNvSpPr>
          <p:nvPr>
            <p:ph type="title"/>
          </p:nvPr>
        </p:nvSpPr>
        <p:spPr>
          <a:xfrm>
            <a:off x="16686" y="157654"/>
            <a:ext cx="8071944" cy="551794"/>
          </a:xfrm>
        </p:spPr>
        <p:txBody>
          <a:bodyPr anchor="b">
            <a:normAutofit fontScale="90000"/>
          </a:bodyPr>
          <a:lstStyle/>
          <a:p>
            <a:r>
              <a:rPr lang="en-US" dirty="0"/>
              <a:t>Understanding Supply Chain Risk and Its Impact</a:t>
            </a:r>
          </a:p>
        </p:txBody>
      </p:sp>
      <p:sp>
        <p:nvSpPr>
          <p:cNvPr id="4" name="Content Placeholder 3">
            <a:extLst>
              <a:ext uri="{FF2B5EF4-FFF2-40B4-BE49-F238E27FC236}">
                <a16:creationId xmlns:a16="http://schemas.microsoft.com/office/drawing/2014/main" id="{AFFFDCA7-901F-2B01-F0FC-7F28AF44E414}"/>
              </a:ext>
            </a:extLst>
          </p:cNvPr>
          <p:cNvSpPr>
            <a:spLocks noGrp="1"/>
          </p:cNvSpPr>
          <p:nvPr>
            <p:ph sz="quarter" idx="18"/>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16686" y="1135117"/>
            <a:ext cx="8071944" cy="5013434"/>
          </a:xfrm>
        </p:spPr>
        <p:txBody>
          <a:bodyPr>
            <a:noAutofit/>
          </a:bodyPr>
          <a:lstStyle/>
          <a:p>
            <a:pPr marL="0" indent="0">
              <a:spcBef>
                <a:spcPts val="2500"/>
              </a:spcBef>
              <a:spcAft>
                <a:spcPts val="600"/>
              </a:spcAft>
              <a:buFont typeface="Arial" panose="020B0604020202020204" pitchFamily="34" charset="0"/>
              <a:buNone/>
            </a:pPr>
            <a:r>
              <a:rPr lang="en-US" sz="1800" b="1" dirty="0"/>
              <a:t>Definition of Supply Chain Risk</a:t>
            </a:r>
          </a:p>
          <a:p>
            <a:pPr marL="0" lvl="1" indent="0">
              <a:spcAft>
                <a:spcPts val="600"/>
              </a:spcAft>
              <a:buFont typeface="Arial" panose="020B0604020202020204" pitchFamily="34" charset="0"/>
              <a:buNone/>
            </a:pPr>
            <a:r>
              <a:rPr lang="en-US" sz="1800" dirty="0"/>
              <a:t>Supply chain risk involves potential disruptions affecting goods, services, and information flow across networks.</a:t>
            </a:r>
          </a:p>
          <a:p>
            <a:pPr marL="0" indent="0">
              <a:spcBef>
                <a:spcPts val="2500"/>
              </a:spcBef>
              <a:spcAft>
                <a:spcPts val="600"/>
              </a:spcAft>
              <a:buFont typeface="Arial" panose="020B0604020202020204" pitchFamily="34" charset="0"/>
              <a:buNone/>
            </a:pPr>
            <a:r>
              <a:rPr lang="en-US" sz="1800" b="1" dirty="0"/>
              <a:t>Impact of Low-Probability High-Impact Events</a:t>
            </a:r>
          </a:p>
          <a:p>
            <a:pPr marL="0" lvl="1" indent="0">
              <a:spcAft>
                <a:spcPts val="600"/>
              </a:spcAft>
              <a:buFont typeface="Arial" panose="020B0604020202020204" pitchFamily="34" charset="0"/>
              <a:buNone/>
            </a:pPr>
            <a:r>
              <a:rPr lang="en-US" sz="1800" dirty="0"/>
              <a:t>Rare but severe events like natural disasters can cause catastrophic operational and financial damage.</a:t>
            </a:r>
          </a:p>
          <a:p>
            <a:pPr marL="0" lvl="1" indent="0">
              <a:spcAft>
                <a:spcPts val="600"/>
              </a:spcAft>
              <a:buFont typeface="Arial" panose="020B0604020202020204" pitchFamily="34" charset="0"/>
              <a:buNone/>
            </a:pPr>
            <a:r>
              <a:rPr lang="en-US" sz="1800" b="1" dirty="0"/>
              <a:t>Operational Resilience and Risk Management</a:t>
            </a:r>
          </a:p>
          <a:p>
            <a:pPr marL="0" lvl="1" indent="0">
              <a:spcAft>
                <a:spcPts val="600"/>
              </a:spcAft>
              <a:buFont typeface="Arial" panose="020B0604020202020204" pitchFamily="34" charset="0"/>
              <a:buNone/>
            </a:pPr>
            <a:r>
              <a:rPr lang="en-US" sz="1800" dirty="0"/>
              <a:t>Building resilience requires vulnerability identification, scenario planning, and contingency strategies.</a:t>
            </a:r>
          </a:p>
          <a:p>
            <a:pPr marL="0" lvl="1" indent="0">
              <a:spcAft>
                <a:spcPts val="600"/>
              </a:spcAft>
              <a:buFont typeface="Arial" panose="020B0604020202020204" pitchFamily="34" charset="0"/>
              <a:buNone/>
            </a:pPr>
            <a:r>
              <a:rPr lang="en-US" sz="1800" b="1" dirty="0"/>
              <a:t>Strategic Risk Mitigation Decisions</a:t>
            </a:r>
          </a:p>
          <a:p>
            <a:pPr marL="0" lvl="1" indent="0">
              <a:spcAft>
                <a:spcPts val="600"/>
              </a:spcAft>
              <a:buFont typeface="Arial" panose="020B0604020202020204" pitchFamily="34" charset="0"/>
              <a:buNone/>
            </a:pPr>
            <a:r>
              <a:rPr lang="en-US" sz="1800" dirty="0"/>
              <a:t>Strategic choices like supplier consolidation and production relocation influence overall risk exposure.</a:t>
            </a:r>
          </a:p>
        </p:txBody>
      </p:sp>
      <p:pic>
        <p:nvPicPr>
          <p:cNvPr id="5" name="Content Placeholder 4" descr="Quality digital concept">
            <a:extLst>
              <a:ext uri="{FF2B5EF4-FFF2-40B4-BE49-F238E27FC236}">
                <a16:creationId xmlns:a16="http://schemas.microsoft.com/office/drawing/2014/main" id="{530BFDE1-0CF5-4D13-8E62-F0D4712B1E16}"/>
              </a:ext>
            </a:extLst>
          </p:cNvPr>
          <p:cNvPicPr>
            <a:picLocks noGrp="1" noChangeAspect="1"/>
          </p:cNvPicPr>
          <p:nvPr>
            <p:ph type="pic" sz="quarter" idx="13"/>
          </p:nvPr>
        </p:nvPicPr>
        <p:blipFill>
          <a:blip r:embed="rId3"/>
          <a:srcRect l="21254" r="27977"/>
          <a:stretch>
            <a:fillRect/>
          </a:stretch>
        </p:blipFill>
        <p:spPr>
          <a:xfrm>
            <a:off x="8168640" y="31530"/>
            <a:ext cx="4023360" cy="6826469"/>
          </a:xfrm>
        </p:spPr>
      </p:pic>
    </p:spTree>
    <p:extLst>
      <p:ext uri="{BB962C8B-B14F-4D97-AF65-F5344CB8AC3E}">
        <p14:creationId xmlns:p14="http://schemas.microsoft.com/office/powerpoint/2010/main" val="38222786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B271F-C77F-7B17-CBD0-65BDDA8CF113}"/>
              </a:ext>
            </a:extLst>
          </p:cNvPr>
          <p:cNvSpPr>
            <a:spLocks noGrp="1"/>
          </p:cNvSpPr>
          <p:nvPr>
            <p:ph type="ctrTitle"/>
          </p:nvPr>
        </p:nvSpPr>
        <p:spPr>
          <a:xfrm>
            <a:off x="457199" y="457200"/>
            <a:ext cx="7845553" cy="6172200"/>
          </a:xfrm>
        </p:spPr>
        <p:txBody>
          <a:bodyPr anchor="b">
            <a:normAutofit/>
          </a:bodyPr>
          <a:lstStyle/>
          <a:p>
            <a:r>
              <a:rPr lang="en-US"/>
              <a:t>Sources of Risk in Supply Chains</a:t>
            </a:r>
          </a:p>
        </p:txBody>
      </p:sp>
    </p:spTree>
    <p:extLst>
      <p:ext uri="{BB962C8B-B14F-4D97-AF65-F5344CB8AC3E}">
        <p14:creationId xmlns:p14="http://schemas.microsoft.com/office/powerpoint/2010/main" val="22469545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196C4-F237-B53B-2A3D-A708CB2B5EEE}"/>
              </a:ext>
            </a:extLst>
          </p:cNvPr>
          <p:cNvSpPr>
            <a:spLocks noGrp="1"/>
          </p:cNvSpPr>
          <p:nvPr>
            <p:ph type="title"/>
          </p:nvPr>
        </p:nvSpPr>
        <p:spPr>
          <a:xfrm>
            <a:off x="0" y="199697"/>
            <a:ext cx="12090400" cy="698937"/>
          </a:xfrm>
        </p:spPr>
        <p:txBody>
          <a:bodyPr>
            <a:normAutofit/>
          </a:bodyPr>
          <a:lstStyle/>
          <a:p>
            <a:r>
              <a:rPr lang="en-US" dirty="0"/>
              <a:t>Understanding the supply chain risk profile</a:t>
            </a:r>
          </a:p>
        </p:txBody>
      </p:sp>
      <p:sp>
        <p:nvSpPr>
          <p:cNvPr id="4" name="TextBox 3">
            <a:extLst>
              <a:ext uri="{FF2B5EF4-FFF2-40B4-BE49-F238E27FC236}">
                <a16:creationId xmlns:a16="http://schemas.microsoft.com/office/drawing/2014/main" id="{6570110A-1FE5-68D0-9AD6-7C4C58B622F3}"/>
              </a:ext>
            </a:extLst>
          </p:cNvPr>
          <p:cNvSpPr txBox="1"/>
          <p:nvPr/>
        </p:nvSpPr>
        <p:spPr>
          <a:xfrm>
            <a:off x="6035749" y="1184645"/>
            <a:ext cx="6287384" cy="830997"/>
          </a:xfrm>
          <a:prstGeom prst="rect">
            <a:avLst/>
          </a:prstGeom>
          <a:noFill/>
        </p:spPr>
        <p:txBody>
          <a:bodyPr wrap="square">
            <a:spAutoFit/>
          </a:bodyPr>
          <a:lstStyle/>
          <a:p>
            <a:r>
              <a:rPr lang="en-US" sz="2400" dirty="0"/>
              <a:t>Supply chain risk = Probability of disruption × Impact</a:t>
            </a:r>
          </a:p>
        </p:txBody>
      </p:sp>
      <p:pic>
        <p:nvPicPr>
          <p:cNvPr id="8" name="Picture 7">
            <a:extLst>
              <a:ext uri="{FF2B5EF4-FFF2-40B4-BE49-F238E27FC236}">
                <a16:creationId xmlns:a16="http://schemas.microsoft.com/office/drawing/2014/main" id="{4148DA82-FA2E-F867-F79D-2FA0D4F7D915}"/>
              </a:ext>
            </a:extLst>
          </p:cNvPr>
          <p:cNvPicPr>
            <a:picLocks noChangeAspect="1"/>
          </p:cNvPicPr>
          <p:nvPr/>
        </p:nvPicPr>
        <p:blipFill>
          <a:blip r:embed="rId2"/>
          <a:stretch>
            <a:fillRect/>
          </a:stretch>
        </p:blipFill>
        <p:spPr>
          <a:xfrm>
            <a:off x="101600" y="756745"/>
            <a:ext cx="5791200" cy="5720254"/>
          </a:xfrm>
          <a:prstGeom prst="rect">
            <a:avLst/>
          </a:prstGeom>
        </p:spPr>
      </p:pic>
      <p:pic>
        <p:nvPicPr>
          <p:cNvPr id="11" name="Picture 10">
            <a:extLst>
              <a:ext uri="{FF2B5EF4-FFF2-40B4-BE49-F238E27FC236}">
                <a16:creationId xmlns:a16="http://schemas.microsoft.com/office/drawing/2014/main" id="{ACE1AE6F-3521-9712-7B9D-A3631CDBB7D1}"/>
              </a:ext>
            </a:extLst>
          </p:cNvPr>
          <p:cNvPicPr>
            <a:picLocks noChangeAspect="1"/>
          </p:cNvPicPr>
          <p:nvPr/>
        </p:nvPicPr>
        <p:blipFill>
          <a:blip r:embed="rId3"/>
          <a:stretch>
            <a:fillRect/>
          </a:stretch>
        </p:blipFill>
        <p:spPr>
          <a:xfrm>
            <a:off x="6096000" y="2624321"/>
            <a:ext cx="5791200" cy="2938279"/>
          </a:xfrm>
          <a:prstGeom prst="rect">
            <a:avLst/>
          </a:prstGeom>
        </p:spPr>
      </p:pic>
    </p:spTree>
    <p:extLst>
      <p:ext uri="{BB962C8B-B14F-4D97-AF65-F5344CB8AC3E}">
        <p14:creationId xmlns:p14="http://schemas.microsoft.com/office/powerpoint/2010/main" val="3838805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F83BA-D43D-17A3-398E-807DAE2E1B9C}"/>
              </a:ext>
            </a:extLst>
          </p:cNvPr>
          <p:cNvSpPr>
            <a:spLocks noGrp="1"/>
          </p:cNvSpPr>
          <p:nvPr>
            <p:ph type="title"/>
          </p:nvPr>
        </p:nvSpPr>
        <p:spPr>
          <a:xfrm>
            <a:off x="457200" y="490128"/>
            <a:ext cx="11277599" cy="914400"/>
          </a:xfrm>
        </p:spPr>
        <p:txBody>
          <a:bodyPr anchor="t">
            <a:normAutofit/>
          </a:bodyPr>
          <a:lstStyle/>
          <a:p>
            <a:r>
              <a:rPr lang="en-US"/>
              <a:t>Five Key Sources of Risk</a:t>
            </a:r>
          </a:p>
        </p:txBody>
      </p:sp>
      <p:graphicFrame>
        <p:nvGraphicFramePr>
          <p:cNvPr id="5" name="Content Placeholder 4">
            <a:extLst>
              <a:ext uri="{FF2B5EF4-FFF2-40B4-BE49-F238E27FC236}">
                <a16:creationId xmlns:a16="http://schemas.microsoft.com/office/drawing/2014/main" id="{D3B513E0-24D7-4928-8849-F7E5BFFDDB4B}"/>
              </a:ext>
            </a:extLst>
          </p:cNvPr>
          <p:cNvGraphicFramePr>
            <a:graphicFrameLocks noGrp="1"/>
          </p:cNvGraphicFramePr>
          <p:nvPr>
            <p:ph idx="1"/>
            <p:extLst>
              <p:ext uri="{D42A27DB-BD31-4B8C-83A1-F6EECF244321}">
                <p14:modId xmlns:p14="http://schemas.microsoft.com/office/powerpoint/2010/main" val="2843330576"/>
              </p:ext>
            </p:extLst>
          </p:nvPr>
        </p:nvGraphicFramePr>
        <p:xfrm>
          <a:off x="638805" y="1404528"/>
          <a:ext cx="10252238" cy="5110110"/>
        </p:xfrm>
        <a:graphic>
          <a:graphicData uri="http://schemas.openxmlformats.org/drawingml/2006/table">
            <a:tbl>
              <a:tblPr firstRow="1" bandRow="1">
                <a:noFill/>
                <a:tableStyleId>{5C22544A-7EE6-4342-B048-85BDC9FD1C3A}</a:tableStyleId>
              </a:tblPr>
              <a:tblGrid>
                <a:gridCol w="2502592">
                  <a:extLst>
                    <a:ext uri="{9D8B030D-6E8A-4147-A177-3AD203B41FA5}">
                      <a16:colId xmlns:a16="http://schemas.microsoft.com/office/drawing/2014/main" val="937951494"/>
                    </a:ext>
                  </a:extLst>
                </a:gridCol>
                <a:gridCol w="3811429">
                  <a:extLst>
                    <a:ext uri="{9D8B030D-6E8A-4147-A177-3AD203B41FA5}">
                      <a16:colId xmlns:a16="http://schemas.microsoft.com/office/drawing/2014/main" val="659088590"/>
                    </a:ext>
                  </a:extLst>
                </a:gridCol>
                <a:gridCol w="3938217">
                  <a:extLst>
                    <a:ext uri="{9D8B030D-6E8A-4147-A177-3AD203B41FA5}">
                      <a16:colId xmlns:a16="http://schemas.microsoft.com/office/drawing/2014/main" val="4294848112"/>
                    </a:ext>
                  </a:extLst>
                </a:gridCol>
              </a:tblGrid>
              <a:tr h="681610">
                <a:tc>
                  <a:txBody>
                    <a:bodyPr/>
                    <a:lstStyle/>
                    <a:p>
                      <a:pPr>
                        <a:buNone/>
                      </a:pPr>
                      <a:r>
                        <a:rPr lang="en-US" sz="1800" b="1" cap="all" spc="150" dirty="0">
                          <a:solidFill>
                            <a:schemeClr val="tx1"/>
                          </a:solidFill>
                        </a:rPr>
                        <a:t>Risk Source</a:t>
                      </a:r>
                    </a:p>
                  </a:txBody>
                  <a:tcPr marL="168530" marR="168530" marT="168530" marB="168530"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800" b="1" cap="all" spc="150">
                          <a:solidFill>
                            <a:schemeClr val="tx1"/>
                          </a:solidFill>
                        </a:rPr>
                        <a:t>Description</a:t>
                      </a:r>
                    </a:p>
                  </a:txBody>
                  <a:tcPr marL="168530" marR="168530" marT="168530" marB="168530"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800" b="1" cap="all" spc="150">
                          <a:solidFill>
                            <a:schemeClr val="tx1"/>
                          </a:solidFill>
                        </a:rPr>
                        <a:t>Example</a:t>
                      </a:r>
                    </a:p>
                  </a:txBody>
                  <a:tcPr marL="168530" marR="168530" marT="168530" marB="168530"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3027131766"/>
                  </a:ext>
                </a:extLst>
              </a:tr>
              <a:tr h="868866">
                <a:tc>
                  <a:txBody>
                    <a:bodyPr/>
                    <a:lstStyle/>
                    <a:p>
                      <a:pPr>
                        <a:buNone/>
                      </a:pPr>
                      <a:r>
                        <a:rPr lang="en-US" sz="1800" b="1" cap="none" spc="0">
                          <a:solidFill>
                            <a:schemeClr val="tx1"/>
                          </a:solidFill>
                        </a:rPr>
                        <a:t>Supply Risk</a:t>
                      </a:r>
                    </a:p>
                  </a:txBody>
                  <a:tcPr marL="168530" marR="168530" marT="168530" marB="16853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Dependence on key suppliers, global sourcing</a:t>
                      </a:r>
                    </a:p>
                  </a:txBody>
                  <a:tcPr marL="168530" marR="168530" marT="168530" marB="16853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Single-source component from overseas</a:t>
                      </a:r>
                    </a:p>
                  </a:txBody>
                  <a:tcPr marL="168530" marR="168530" marT="168530" marB="16853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1521508512"/>
                  </a:ext>
                </a:extLst>
              </a:tr>
              <a:tr h="868866">
                <a:tc>
                  <a:txBody>
                    <a:bodyPr/>
                    <a:lstStyle/>
                    <a:p>
                      <a:pPr>
                        <a:buNone/>
                      </a:pPr>
                      <a:r>
                        <a:rPr lang="en-US" sz="1800" b="1" cap="none" spc="0">
                          <a:solidFill>
                            <a:schemeClr val="tx1"/>
                          </a:solidFill>
                        </a:rPr>
                        <a:t>Demand Risk</a:t>
                      </a:r>
                    </a:p>
                  </a:txBody>
                  <a:tcPr marL="168530" marR="168530" marT="168530" marB="1685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Volatility, bullwhip effect</a:t>
                      </a:r>
                    </a:p>
                  </a:txBody>
                  <a:tcPr marL="168530" marR="168530" marT="168530" marB="1685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Sudden surge in seasonal product demand</a:t>
                      </a:r>
                    </a:p>
                  </a:txBody>
                  <a:tcPr marL="168530" marR="168530" marT="168530" marB="1685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716693505"/>
                  </a:ext>
                </a:extLst>
              </a:tr>
              <a:tr h="625434">
                <a:tc>
                  <a:txBody>
                    <a:bodyPr/>
                    <a:lstStyle/>
                    <a:p>
                      <a:pPr>
                        <a:buNone/>
                      </a:pPr>
                      <a:r>
                        <a:rPr lang="en-US" sz="1800" b="1" cap="none" spc="0">
                          <a:solidFill>
                            <a:schemeClr val="tx1"/>
                          </a:solidFill>
                        </a:rPr>
                        <a:t>Process Risk</a:t>
                      </a:r>
                    </a:p>
                  </a:txBody>
                  <a:tcPr marL="168530" marR="168530" marT="168530" marB="1685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Bottlenecks, variability</a:t>
                      </a:r>
                    </a:p>
                  </a:txBody>
                  <a:tcPr marL="168530" marR="168530" marT="168530" marB="1685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Limited capacity in critical assembly line</a:t>
                      </a:r>
                    </a:p>
                  </a:txBody>
                  <a:tcPr marL="168530" marR="168530" marT="168530" marB="1685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329796255"/>
                  </a:ext>
                </a:extLst>
              </a:tr>
              <a:tr h="868866">
                <a:tc>
                  <a:txBody>
                    <a:bodyPr/>
                    <a:lstStyle/>
                    <a:p>
                      <a:pPr>
                        <a:buNone/>
                      </a:pPr>
                      <a:r>
                        <a:rPr lang="en-US" sz="1800" b="1" cap="none" spc="0">
                          <a:solidFill>
                            <a:schemeClr val="tx1"/>
                          </a:solidFill>
                        </a:rPr>
                        <a:t>Control Risk</a:t>
                      </a:r>
                    </a:p>
                  </a:txBody>
                  <a:tcPr marL="168530" marR="168530" marT="168530" marB="1685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Distortions from internal policies</a:t>
                      </a:r>
                    </a:p>
                  </a:txBody>
                  <a:tcPr marL="168530" marR="168530" marT="168530" marB="1685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Batch ordering inflates perceived demand</a:t>
                      </a:r>
                    </a:p>
                  </a:txBody>
                  <a:tcPr marL="168530" marR="168530" marT="168530" marB="16853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60327036"/>
                  </a:ext>
                </a:extLst>
              </a:tr>
              <a:tr h="625434">
                <a:tc>
                  <a:txBody>
                    <a:bodyPr/>
                    <a:lstStyle/>
                    <a:p>
                      <a:pPr>
                        <a:buNone/>
                      </a:pPr>
                      <a:r>
                        <a:rPr lang="en-US" sz="1800" b="1" cap="none" spc="0">
                          <a:solidFill>
                            <a:schemeClr val="tx1"/>
                          </a:solidFill>
                        </a:rPr>
                        <a:t>Environmental Risk</a:t>
                      </a:r>
                    </a:p>
                  </a:txBody>
                  <a:tcPr marL="168530" marR="168530" marT="168530" marB="16853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800" b="0" cap="none" spc="0">
                          <a:solidFill>
                            <a:schemeClr val="tx1"/>
                          </a:solidFill>
                        </a:rPr>
                        <a:t>External shocks</a:t>
                      </a:r>
                    </a:p>
                  </a:txBody>
                  <a:tcPr marL="168530" marR="168530" marT="168530" marB="16853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800" b="0" cap="none" spc="0" dirty="0">
                          <a:solidFill>
                            <a:schemeClr val="tx1"/>
                          </a:solidFill>
                        </a:rPr>
                        <a:t>Earthquake disrupting transport routes</a:t>
                      </a:r>
                    </a:p>
                  </a:txBody>
                  <a:tcPr marL="168530" marR="168530" marT="168530" marB="16853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4215251688"/>
                  </a:ext>
                </a:extLst>
              </a:tr>
            </a:tbl>
          </a:graphicData>
        </a:graphic>
      </p:graphicFrame>
    </p:spTree>
    <p:extLst>
      <p:ext uri="{BB962C8B-B14F-4D97-AF65-F5344CB8AC3E}">
        <p14:creationId xmlns:p14="http://schemas.microsoft.com/office/powerpoint/2010/main" val="103858603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EFA8A-507B-9514-6B57-A2BD853C644F}"/>
              </a:ext>
            </a:extLst>
          </p:cNvPr>
          <p:cNvSpPr>
            <a:spLocks noGrp="1"/>
          </p:cNvSpPr>
          <p:nvPr>
            <p:ph type="ctrTitle"/>
          </p:nvPr>
        </p:nvSpPr>
        <p:spPr>
          <a:xfrm>
            <a:off x="457199" y="457200"/>
            <a:ext cx="9982201" cy="6172200"/>
          </a:xfrm>
        </p:spPr>
        <p:txBody>
          <a:bodyPr anchor="b">
            <a:normAutofit/>
          </a:bodyPr>
          <a:lstStyle/>
          <a:p>
            <a:r>
              <a:rPr lang="en-US"/>
              <a:t>Risk Assessment and Numerical Examples</a:t>
            </a:r>
          </a:p>
        </p:txBody>
      </p:sp>
    </p:spTree>
    <p:extLst>
      <p:ext uri="{BB962C8B-B14F-4D97-AF65-F5344CB8AC3E}">
        <p14:creationId xmlns:p14="http://schemas.microsoft.com/office/powerpoint/2010/main" val="7826706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B9750-A990-B0A1-B328-ACFC6D8D99E6}"/>
              </a:ext>
            </a:extLst>
          </p:cNvPr>
          <p:cNvSpPr>
            <a:spLocks noGrp="1"/>
          </p:cNvSpPr>
          <p:nvPr>
            <p:ph type="title"/>
          </p:nvPr>
        </p:nvSpPr>
        <p:spPr>
          <a:xfrm>
            <a:off x="457200" y="490128"/>
            <a:ext cx="11277599" cy="914400"/>
          </a:xfrm>
        </p:spPr>
        <p:txBody>
          <a:bodyPr anchor="t">
            <a:normAutofit/>
          </a:bodyPr>
          <a:lstStyle/>
          <a:p>
            <a:r>
              <a:rPr lang="en-US" dirty="0"/>
              <a:t>Developing a Risk Profile and Using FMEA</a:t>
            </a:r>
          </a:p>
        </p:txBody>
      </p:sp>
      <p:graphicFrame>
        <p:nvGraphicFramePr>
          <p:cNvPr id="5" name="Content Placeholder 4">
            <a:extLst>
              <a:ext uri="{FF2B5EF4-FFF2-40B4-BE49-F238E27FC236}">
                <a16:creationId xmlns:a16="http://schemas.microsoft.com/office/drawing/2014/main" id="{795F18C8-2453-437C-BBAF-EE611760DEAE}"/>
              </a:ext>
            </a:extLst>
          </p:cNvPr>
          <p:cNvGraphicFramePr>
            <a:graphicFrameLocks noGrp="1"/>
          </p:cNvGraphicFramePr>
          <p:nvPr>
            <p:ph idx="1"/>
          </p:nvPr>
        </p:nvGraphicFramePr>
        <p:xfrm>
          <a:off x="1202442" y="1861728"/>
          <a:ext cx="9787117" cy="4539074"/>
        </p:xfrm>
        <a:graphic>
          <a:graphicData uri="http://schemas.openxmlformats.org/drawingml/2006/table">
            <a:tbl>
              <a:tblPr firstRow="1" bandRow="1">
                <a:noFill/>
                <a:tableStyleId>{5C22544A-7EE6-4342-B048-85BDC9FD1C3A}</a:tableStyleId>
              </a:tblPr>
              <a:tblGrid>
                <a:gridCol w="3193473">
                  <a:extLst>
                    <a:ext uri="{9D8B030D-6E8A-4147-A177-3AD203B41FA5}">
                      <a16:colId xmlns:a16="http://schemas.microsoft.com/office/drawing/2014/main" val="2065822537"/>
                    </a:ext>
                  </a:extLst>
                </a:gridCol>
                <a:gridCol w="4407820">
                  <a:extLst>
                    <a:ext uri="{9D8B030D-6E8A-4147-A177-3AD203B41FA5}">
                      <a16:colId xmlns:a16="http://schemas.microsoft.com/office/drawing/2014/main" val="3028456693"/>
                    </a:ext>
                  </a:extLst>
                </a:gridCol>
                <a:gridCol w="2185824">
                  <a:extLst>
                    <a:ext uri="{9D8B030D-6E8A-4147-A177-3AD203B41FA5}">
                      <a16:colId xmlns:a16="http://schemas.microsoft.com/office/drawing/2014/main" val="2899257880"/>
                    </a:ext>
                  </a:extLst>
                </a:gridCol>
              </a:tblGrid>
              <a:tr h="902854">
                <a:tc>
                  <a:txBody>
                    <a:bodyPr/>
                    <a:lstStyle/>
                    <a:p>
                      <a:pPr>
                        <a:buNone/>
                      </a:pPr>
                      <a:r>
                        <a:rPr lang="en-US" sz="2600" b="1" cap="all" spc="150">
                          <a:solidFill>
                            <a:schemeClr val="tx1"/>
                          </a:solidFill>
                        </a:rPr>
                        <a:t>Example</a:t>
                      </a:r>
                    </a:p>
                  </a:txBody>
                  <a:tcPr marL="223233" marR="223233" marT="223233" marB="223233"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600" b="1" cap="all" spc="150">
                          <a:solidFill>
                            <a:schemeClr val="tx1"/>
                          </a:solidFill>
                        </a:rPr>
                        <a:t>Calculation</a:t>
                      </a:r>
                    </a:p>
                  </a:txBody>
                  <a:tcPr marL="223233" marR="223233" marT="223233" marB="223233"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2600" b="1" cap="all" spc="150">
                          <a:solidFill>
                            <a:schemeClr val="tx1"/>
                          </a:solidFill>
                        </a:rPr>
                        <a:t>Result</a:t>
                      </a:r>
                    </a:p>
                  </a:txBody>
                  <a:tcPr marL="223233" marR="223233" marT="223233" marB="223233"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1312517841"/>
                  </a:ext>
                </a:extLst>
              </a:tr>
              <a:tr h="828443">
                <a:tc>
                  <a:txBody>
                    <a:bodyPr/>
                    <a:lstStyle/>
                    <a:p>
                      <a:pPr>
                        <a:buNone/>
                      </a:pPr>
                      <a:r>
                        <a:rPr lang="en-US" sz="2100" b="1" cap="none" spc="0">
                          <a:solidFill>
                            <a:schemeClr val="tx1"/>
                          </a:solidFill>
                        </a:rPr>
                        <a:t>Risk Exposure</a:t>
                      </a:r>
                    </a:p>
                  </a:txBody>
                  <a:tcPr marL="223233" marR="223233" marT="223233" marB="22323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Probability 0.2 × Impact $5M</a:t>
                      </a:r>
                    </a:p>
                  </a:txBody>
                  <a:tcPr marL="223233" marR="223233" marT="223233" marB="22323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$1M</a:t>
                      </a:r>
                    </a:p>
                  </a:txBody>
                  <a:tcPr marL="223233" marR="223233" marT="223233" marB="22323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529776150"/>
                  </a:ext>
                </a:extLst>
              </a:tr>
              <a:tr h="828443">
                <a:tc>
                  <a:txBody>
                    <a:bodyPr/>
                    <a:lstStyle/>
                    <a:p>
                      <a:pPr>
                        <a:buNone/>
                      </a:pPr>
                      <a:r>
                        <a:rPr lang="en-US" sz="2100" b="1" cap="none" spc="0">
                          <a:solidFill>
                            <a:schemeClr val="tx1"/>
                          </a:solidFill>
                        </a:rPr>
                        <a:t>FMEA Case 1</a:t>
                      </a:r>
                    </a:p>
                  </a:txBody>
                  <a:tcPr marL="223233" marR="223233" marT="223233" marB="22323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S=4, O=3, D=4</a:t>
                      </a:r>
                    </a:p>
                  </a:txBody>
                  <a:tcPr marL="223233" marR="223233" marT="223233" marB="22323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RPN=48</a:t>
                      </a:r>
                    </a:p>
                  </a:txBody>
                  <a:tcPr marL="223233" marR="223233" marT="223233" marB="22323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489988326"/>
                  </a:ext>
                </a:extLst>
              </a:tr>
              <a:tr h="828443">
                <a:tc>
                  <a:txBody>
                    <a:bodyPr/>
                    <a:lstStyle/>
                    <a:p>
                      <a:pPr>
                        <a:buNone/>
                      </a:pPr>
                      <a:r>
                        <a:rPr lang="en-US" sz="2100" b="1" cap="none" spc="0">
                          <a:solidFill>
                            <a:schemeClr val="tx1"/>
                          </a:solidFill>
                        </a:rPr>
                        <a:t>FMEA Case 2</a:t>
                      </a:r>
                    </a:p>
                  </a:txBody>
                  <a:tcPr marL="223233" marR="223233" marT="223233" marB="22323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S=5, O=2, D=5</a:t>
                      </a:r>
                    </a:p>
                  </a:txBody>
                  <a:tcPr marL="223233" marR="223233" marT="223233" marB="22323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2100" cap="none" spc="0">
                          <a:solidFill>
                            <a:schemeClr val="tx1"/>
                          </a:solidFill>
                        </a:rPr>
                        <a:t>RPN=50</a:t>
                      </a:r>
                    </a:p>
                  </a:txBody>
                  <a:tcPr marL="223233" marR="223233" marT="223233" marB="22323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586764088"/>
                  </a:ext>
                </a:extLst>
              </a:tr>
              <a:tr h="1150891">
                <a:tc>
                  <a:txBody>
                    <a:bodyPr/>
                    <a:lstStyle/>
                    <a:p>
                      <a:pPr>
                        <a:buNone/>
                      </a:pPr>
                      <a:r>
                        <a:rPr lang="en-US" sz="2100" b="1" cap="none" spc="0">
                          <a:solidFill>
                            <a:schemeClr val="tx1"/>
                          </a:solidFill>
                        </a:rPr>
                        <a:t>Safety Stock Impact</a:t>
                      </a:r>
                    </a:p>
                  </a:txBody>
                  <a:tcPr marL="223233" marR="223233" marT="223233" marB="22323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2100" cap="none" spc="0">
                          <a:solidFill>
                            <a:schemeClr val="tx1"/>
                          </a:solidFill>
                        </a:rPr>
                        <a:t>Lead time ↑ from 10 to 25 days; </a:t>
                      </a:r>
                      <a:r>
                        <a:rPr lang="el-GR" sz="2100" cap="none" spc="0">
                          <a:solidFill>
                            <a:schemeClr val="tx1"/>
                          </a:solidFill>
                        </a:rPr>
                        <a:t>σ=200/</a:t>
                      </a:r>
                      <a:r>
                        <a:rPr lang="en-US" sz="2100" cap="none" spc="0">
                          <a:solidFill>
                            <a:schemeClr val="tx1"/>
                          </a:solidFill>
                        </a:rPr>
                        <a:t>day</a:t>
                      </a:r>
                    </a:p>
                  </a:txBody>
                  <a:tcPr marL="223233" marR="223233" marT="223233" marB="22323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2100" cap="none" spc="0">
                          <a:solidFill>
                            <a:schemeClr val="tx1"/>
                          </a:solidFill>
                        </a:rPr>
                        <a:t>+3,000 units</a:t>
                      </a:r>
                    </a:p>
                  </a:txBody>
                  <a:tcPr marL="223233" marR="223233" marT="223233" marB="223233"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765525153"/>
                  </a:ext>
                </a:extLst>
              </a:tr>
            </a:tbl>
          </a:graphicData>
        </a:graphic>
      </p:graphicFrame>
    </p:spTree>
    <p:extLst>
      <p:ext uri="{BB962C8B-B14F-4D97-AF65-F5344CB8AC3E}">
        <p14:creationId xmlns:p14="http://schemas.microsoft.com/office/powerpoint/2010/main" val="235765382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AA3A8-1981-9EF4-BB16-5D949439B74E}"/>
              </a:ext>
            </a:extLst>
          </p:cNvPr>
          <p:cNvSpPr>
            <a:spLocks noGrp="1"/>
          </p:cNvSpPr>
          <p:nvPr>
            <p:ph type="ctrTitle"/>
          </p:nvPr>
        </p:nvSpPr>
        <p:spPr>
          <a:xfrm>
            <a:off x="457199" y="457200"/>
            <a:ext cx="7845553" cy="6172200"/>
          </a:xfrm>
        </p:spPr>
        <p:txBody>
          <a:bodyPr anchor="b">
            <a:normAutofit/>
          </a:bodyPr>
          <a:lstStyle/>
          <a:p>
            <a:r>
              <a:rPr lang="en-US"/>
              <a:t>Risk Mitigation Strategies</a:t>
            </a:r>
          </a:p>
        </p:txBody>
      </p:sp>
    </p:spTree>
    <p:extLst>
      <p:ext uri="{BB962C8B-B14F-4D97-AF65-F5344CB8AC3E}">
        <p14:creationId xmlns:p14="http://schemas.microsoft.com/office/powerpoint/2010/main" val="10788064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D0C27-A204-58D3-7D71-50C9DF9A0D5F}"/>
              </a:ext>
            </a:extLst>
          </p:cNvPr>
          <p:cNvSpPr>
            <a:spLocks noGrp="1"/>
          </p:cNvSpPr>
          <p:nvPr>
            <p:ph type="title"/>
          </p:nvPr>
        </p:nvSpPr>
        <p:spPr>
          <a:xfrm>
            <a:off x="457201" y="149771"/>
            <a:ext cx="7254239" cy="614856"/>
          </a:xfrm>
        </p:spPr>
        <p:txBody>
          <a:bodyPr anchor="b">
            <a:normAutofit/>
          </a:bodyPr>
          <a:lstStyle/>
          <a:p>
            <a:r>
              <a:rPr lang="en-US" dirty="0"/>
              <a:t>Redundancy vs Flexibility</a:t>
            </a:r>
          </a:p>
        </p:txBody>
      </p:sp>
      <p:sp>
        <p:nvSpPr>
          <p:cNvPr id="4" name="Content Placeholder 3">
            <a:extLst>
              <a:ext uri="{FF2B5EF4-FFF2-40B4-BE49-F238E27FC236}">
                <a16:creationId xmlns:a16="http://schemas.microsoft.com/office/drawing/2014/main" id="{BA8E182C-EF8F-4F88-88AD-00D511FA269C}"/>
              </a:ext>
            </a:extLst>
          </p:cNvPr>
          <p:cNvSpPr>
            <a:spLocks noGrp="1"/>
          </p:cNvSpPr>
          <p:nvPr>
            <p:ph sz="quarter" idx="18"/>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189186" y="764627"/>
            <a:ext cx="7803931" cy="5636173"/>
          </a:xfrm>
        </p:spPr>
        <p:txBody>
          <a:bodyPr>
            <a:normAutofit/>
          </a:bodyPr>
          <a:lstStyle/>
          <a:p>
            <a:pPr marL="0" indent="0">
              <a:lnSpc>
                <a:spcPct val="110000"/>
              </a:lnSpc>
              <a:spcBef>
                <a:spcPts val="2500"/>
              </a:spcBef>
              <a:spcAft>
                <a:spcPts val="600"/>
              </a:spcAft>
              <a:buFont typeface="Arial" panose="020B0604020202020204" pitchFamily="34" charset="0"/>
              <a:buNone/>
            </a:pPr>
            <a:r>
              <a:rPr lang="en-US" sz="1800" b="1" dirty="0"/>
              <a:t>Redundancy Buffers</a:t>
            </a:r>
          </a:p>
          <a:p>
            <a:pPr marL="0" lvl="1" indent="0">
              <a:lnSpc>
                <a:spcPct val="110000"/>
              </a:lnSpc>
              <a:spcAft>
                <a:spcPts val="600"/>
              </a:spcAft>
              <a:buFont typeface="Arial" panose="020B0604020202020204" pitchFamily="34" charset="0"/>
              <a:buNone/>
            </a:pPr>
            <a:r>
              <a:rPr lang="en-US" sz="1800" dirty="0"/>
              <a:t>Redundancy creates buffers like excess inventory and backup systems to mitigate risk but may increase costs and reduce competitiveness.</a:t>
            </a:r>
          </a:p>
          <a:p>
            <a:pPr marL="0" indent="0">
              <a:lnSpc>
                <a:spcPct val="110000"/>
              </a:lnSpc>
              <a:spcBef>
                <a:spcPts val="2500"/>
              </a:spcBef>
              <a:spcAft>
                <a:spcPts val="600"/>
              </a:spcAft>
              <a:buFont typeface="Arial" panose="020B0604020202020204" pitchFamily="34" charset="0"/>
              <a:buNone/>
            </a:pPr>
            <a:r>
              <a:rPr lang="en-US" sz="1800" b="1" dirty="0"/>
              <a:t>Flexibility Advantages</a:t>
            </a:r>
          </a:p>
          <a:p>
            <a:pPr marL="0" lvl="1" indent="0">
              <a:lnSpc>
                <a:spcPct val="110000"/>
              </a:lnSpc>
              <a:spcAft>
                <a:spcPts val="600"/>
              </a:spcAft>
              <a:buFont typeface="Arial" panose="020B0604020202020204" pitchFamily="34" charset="0"/>
              <a:buNone/>
            </a:pPr>
            <a:r>
              <a:rPr lang="en-US" sz="1800" dirty="0"/>
              <a:t>Flexibility improves agility and responsiveness through adaptable product design, lead-time reduction, and cross-trained employees.</a:t>
            </a:r>
          </a:p>
          <a:p>
            <a:pPr marL="0" indent="0">
              <a:lnSpc>
                <a:spcPct val="110000"/>
              </a:lnSpc>
              <a:spcBef>
                <a:spcPts val="2500"/>
              </a:spcBef>
              <a:spcAft>
                <a:spcPts val="600"/>
              </a:spcAft>
              <a:buFont typeface="Arial" panose="020B0604020202020204" pitchFamily="34" charset="0"/>
              <a:buNone/>
            </a:pPr>
            <a:r>
              <a:rPr lang="en-US" sz="1800" b="1" dirty="0"/>
              <a:t>Technology and Planning Tools</a:t>
            </a:r>
          </a:p>
          <a:p>
            <a:pPr marL="0" lvl="1" indent="0">
              <a:lnSpc>
                <a:spcPct val="110000"/>
              </a:lnSpc>
              <a:spcAft>
                <a:spcPts val="600"/>
              </a:spcAft>
              <a:buFont typeface="Arial" panose="020B0604020202020204" pitchFamily="34" charset="0"/>
              <a:buNone/>
            </a:pPr>
            <a:r>
              <a:rPr lang="en-US" sz="1800" dirty="0"/>
              <a:t>Dynamic inventory planning and supply chain visibility tools like RFID and SCEM enhance resilience and risk response.</a:t>
            </a:r>
          </a:p>
          <a:p>
            <a:pPr marL="0" indent="0">
              <a:lnSpc>
                <a:spcPct val="110000"/>
              </a:lnSpc>
              <a:spcBef>
                <a:spcPts val="2500"/>
              </a:spcBef>
              <a:spcAft>
                <a:spcPts val="600"/>
              </a:spcAft>
              <a:buFont typeface="Arial" panose="020B0604020202020204" pitchFamily="34" charset="0"/>
              <a:buNone/>
            </a:pPr>
            <a:r>
              <a:rPr lang="en-US" sz="1800" b="1" dirty="0"/>
              <a:t>Cost-Benefit Evaluation</a:t>
            </a:r>
          </a:p>
          <a:p>
            <a:pPr marL="0" lvl="1" indent="0">
              <a:lnSpc>
                <a:spcPct val="110000"/>
              </a:lnSpc>
              <a:spcAft>
                <a:spcPts val="600"/>
              </a:spcAft>
              <a:buFont typeface="Arial" panose="020B0604020202020204" pitchFamily="34" charset="0"/>
              <a:buNone/>
            </a:pPr>
            <a:r>
              <a:rPr lang="en-US" sz="1800" dirty="0"/>
              <a:t>Companies must evaluate trade-offs using modeling tools to align risk strategies with risk magnitude and likelihood.</a:t>
            </a:r>
          </a:p>
        </p:txBody>
      </p:sp>
      <p:pic>
        <p:nvPicPr>
          <p:cNvPr id="5" name="Content Placeholder 4" descr="Shot of a businessman holding on to a bunch of cryptocurrency balloons on top of a graph against a white background">
            <a:extLst>
              <a:ext uri="{FF2B5EF4-FFF2-40B4-BE49-F238E27FC236}">
                <a16:creationId xmlns:a16="http://schemas.microsoft.com/office/drawing/2014/main" id="{E7F4390E-8893-4A62-B366-5C8A99C11289}"/>
              </a:ext>
            </a:extLst>
          </p:cNvPr>
          <p:cNvPicPr>
            <a:picLocks noGrp="1" noChangeAspect="1"/>
          </p:cNvPicPr>
          <p:nvPr>
            <p:ph type="pic" sz="quarter" idx="13"/>
          </p:nvPr>
        </p:nvPicPr>
        <p:blipFill>
          <a:blip r:embed="rId3"/>
          <a:srcRect l="39837" r="2116" b="-2"/>
          <a:stretch>
            <a:fillRect/>
          </a:stretch>
        </p:blipFill>
        <p:spPr>
          <a:xfrm>
            <a:off x="8168640" y="457199"/>
            <a:ext cx="4023360" cy="5943601"/>
          </a:xfrm>
        </p:spPr>
      </p:pic>
    </p:spTree>
    <p:extLst>
      <p:ext uri="{BB962C8B-B14F-4D97-AF65-F5344CB8AC3E}">
        <p14:creationId xmlns:p14="http://schemas.microsoft.com/office/powerpoint/2010/main" val="36185262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6E7E6-E425-D2C3-51E2-A36F262B92D8}"/>
              </a:ext>
            </a:extLst>
          </p:cNvPr>
          <p:cNvSpPr>
            <a:spLocks noGrp="1"/>
          </p:cNvSpPr>
          <p:nvPr>
            <p:ph type="ctrTitle"/>
          </p:nvPr>
        </p:nvSpPr>
        <p:spPr>
          <a:xfrm>
            <a:off x="457199" y="457200"/>
            <a:ext cx="9982201" cy="1608083"/>
          </a:xfrm>
        </p:spPr>
        <p:txBody>
          <a:bodyPr anchor="b">
            <a:normAutofit/>
          </a:bodyPr>
          <a:lstStyle/>
          <a:p>
            <a:r>
              <a:rPr lang="en-US" dirty="0"/>
              <a:t>Seven-Stage Risk Management Process</a:t>
            </a:r>
          </a:p>
        </p:txBody>
      </p:sp>
      <p:pic>
        <p:nvPicPr>
          <p:cNvPr id="3" name="Picture 2">
            <a:extLst>
              <a:ext uri="{FF2B5EF4-FFF2-40B4-BE49-F238E27FC236}">
                <a16:creationId xmlns:a16="http://schemas.microsoft.com/office/drawing/2014/main" id="{F6344AF9-06F7-5FC2-FAFD-E5A15ED907D5}"/>
              </a:ext>
            </a:extLst>
          </p:cNvPr>
          <p:cNvPicPr>
            <a:picLocks noChangeAspect="1"/>
          </p:cNvPicPr>
          <p:nvPr/>
        </p:nvPicPr>
        <p:blipFill>
          <a:blip r:embed="rId3">
            <a:alphaModFix amt="70000"/>
          </a:blip>
          <a:stretch>
            <a:fillRect/>
          </a:stretch>
        </p:blipFill>
        <p:spPr>
          <a:xfrm>
            <a:off x="4373688" y="1266497"/>
            <a:ext cx="6065711" cy="5528462"/>
          </a:xfrm>
          <a:prstGeom prst="rect">
            <a:avLst/>
          </a:prstGeom>
        </p:spPr>
      </p:pic>
    </p:spTree>
    <p:extLst>
      <p:ext uri="{BB962C8B-B14F-4D97-AF65-F5344CB8AC3E}">
        <p14:creationId xmlns:p14="http://schemas.microsoft.com/office/powerpoint/2010/main" val="7341116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8414E-FCD9-9E5C-0E8A-9BDB98EFBB60}"/>
              </a:ext>
            </a:extLst>
          </p:cNvPr>
          <p:cNvSpPr>
            <a:spLocks noGrp="1"/>
          </p:cNvSpPr>
          <p:nvPr>
            <p:ph type="title"/>
          </p:nvPr>
        </p:nvSpPr>
        <p:spPr>
          <a:xfrm>
            <a:off x="4480560" y="189186"/>
            <a:ext cx="7254240" cy="1173708"/>
          </a:xfrm>
        </p:spPr>
        <p:txBody>
          <a:bodyPr anchor="b">
            <a:normAutofit/>
          </a:bodyPr>
          <a:lstStyle/>
          <a:p>
            <a:r>
              <a:rPr lang="en-US" dirty="0"/>
              <a:t>Framework for Managing Supply Chain Risk</a:t>
            </a:r>
          </a:p>
        </p:txBody>
      </p:sp>
      <p:pic>
        <p:nvPicPr>
          <p:cNvPr id="5" name="Content Placeholder 4" descr="Global Communication&#10;Map: https://visibleearth.nasa.gov">
            <a:extLst>
              <a:ext uri="{FF2B5EF4-FFF2-40B4-BE49-F238E27FC236}">
                <a16:creationId xmlns:a16="http://schemas.microsoft.com/office/drawing/2014/main" id="{4511880C-049F-4A41-8CC4-8C10535A5A73}"/>
              </a:ext>
            </a:extLst>
          </p:cNvPr>
          <p:cNvPicPr>
            <a:picLocks noGrp="1" noChangeAspect="1"/>
          </p:cNvPicPr>
          <p:nvPr>
            <p:ph type="pic" sz="quarter" idx="13"/>
          </p:nvPr>
        </p:nvPicPr>
        <p:blipFill>
          <a:blip r:embed="rId3"/>
          <a:srcRect l="22437" r="31024"/>
          <a:stretch>
            <a:fillRect/>
          </a:stretch>
        </p:blipFill>
        <p:spPr>
          <a:xfrm>
            <a:off x="20" y="457199"/>
            <a:ext cx="4023340" cy="5943601"/>
          </a:xfrm>
        </p:spPr>
      </p:pic>
      <p:sp>
        <p:nvSpPr>
          <p:cNvPr id="4" name="Content Placeholder 3">
            <a:extLst>
              <a:ext uri="{FF2B5EF4-FFF2-40B4-BE49-F238E27FC236}">
                <a16:creationId xmlns:a16="http://schemas.microsoft.com/office/drawing/2014/main" id="{D1BEACAB-1AB3-37A2-4959-F955F4AE1C93}"/>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4480560" y="1362894"/>
            <a:ext cx="7254240" cy="5037906"/>
          </a:xfrm>
        </p:spPr>
        <p:txBody>
          <a:bodyPr>
            <a:normAutofit lnSpcReduction="10000"/>
          </a:bodyPr>
          <a:lstStyle/>
          <a:p>
            <a:pPr marL="0" indent="0">
              <a:lnSpc>
                <a:spcPct val="110000"/>
              </a:lnSpc>
              <a:spcBef>
                <a:spcPts val="2500"/>
              </a:spcBef>
              <a:spcAft>
                <a:spcPts val="600"/>
              </a:spcAft>
              <a:buFont typeface="Arial" panose="020B0604020202020204" pitchFamily="34" charset="0"/>
              <a:buNone/>
            </a:pPr>
            <a:r>
              <a:rPr lang="en-US" sz="1600" b="1" dirty="0"/>
              <a:t>Supply Chain Mapping</a:t>
            </a:r>
          </a:p>
          <a:p>
            <a:pPr marL="0" lvl="1" indent="0">
              <a:lnSpc>
                <a:spcPct val="110000"/>
              </a:lnSpc>
              <a:spcAft>
                <a:spcPts val="600"/>
              </a:spcAft>
              <a:buFont typeface="Arial" panose="020B0604020202020204" pitchFamily="34" charset="0"/>
              <a:buNone/>
            </a:pPr>
            <a:r>
              <a:rPr lang="en-US" sz="1600" dirty="0"/>
              <a:t>Understand supply chain tiers beyond Tier-1 suppliers by thorough mapping of upstream and downstream partners.</a:t>
            </a:r>
          </a:p>
          <a:p>
            <a:pPr marL="0" indent="0">
              <a:lnSpc>
                <a:spcPct val="110000"/>
              </a:lnSpc>
              <a:spcBef>
                <a:spcPts val="2500"/>
              </a:spcBef>
              <a:spcAft>
                <a:spcPts val="600"/>
              </a:spcAft>
              <a:buFont typeface="Arial" panose="020B0604020202020204" pitchFamily="34" charset="0"/>
              <a:buNone/>
            </a:pPr>
            <a:r>
              <a:rPr lang="en-US" sz="1600" b="1" dirty="0"/>
              <a:t>Reducing Complexity</a:t>
            </a:r>
          </a:p>
          <a:p>
            <a:pPr marL="0" lvl="1" indent="0">
              <a:lnSpc>
                <a:spcPct val="110000"/>
              </a:lnSpc>
              <a:spcAft>
                <a:spcPts val="600"/>
              </a:spcAft>
              <a:buFont typeface="Arial" panose="020B0604020202020204" pitchFamily="34" charset="0"/>
              <a:buNone/>
            </a:pPr>
            <a:r>
              <a:rPr lang="en-US" sz="1600" dirty="0"/>
              <a:t>Use Six Sigma and DMAIC methodologies to reduce variability and complexity in supply chain operations.</a:t>
            </a:r>
          </a:p>
          <a:p>
            <a:pPr marL="0" indent="0">
              <a:lnSpc>
                <a:spcPct val="110000"/>
              </a:lnSpc>
              <a:spcBef>
                <a:spcPts val="2500"/>
              </a:spcBef>
              <a:spcAft>
                <a:spcPts val="600"/>
              </a:spcAft>
              <a:buFont typeface="Arial" panose="020B0604020202020204" pitchFamily="34" charset="0"/>
              <a:buNone/>
            </a:pPr>
            <a:r>
              <a:rPr lang="en-US" sz="1600" b="1" dirty="0"/>
              <a:t>Critical Path Identification</a:t>
            </a:r>
          </a:p>
          <a:p>
            <a:pPr marL="0" lvl="1" indent="0">
              <a:lnSpc>
                <a:spcPct val="110000"/>
              </a:lnSpc>
              <a:spcAft>
                <a:spcPts val="600"/>
              </a:spcAft>
              <a:buFont typeface="Arial" panose="020B0604020202020204" pitchFamily="34" charset="0"/>
              <a:buNone/>
            </a:pPr>
            <a:r>
              <a:rPr lang="en-US" sz="1600" dirty="0"/>
              <a:t>Identify critical nodes and links in the supply chain using Failure Mode and Effects Analysis (FMEA) to assess risk impact.</a:t>
            </a:r>
          </a:p>
          <a:p>
            <a:pPr marL="0" indent="0">
              <a:lnSpc>
                <a:spcPct val="110000"/>
              </a:lnSpc>
              <a:spcBef>
                <a:spcPts val="2500"/>
              </a:spcBef>
              <a:spcAft>
                <a:spcPts val="600"/>
              </a:spcAft>
              <a:buFont typeface="Arial" panose="020B0604020202020204" pitchFamily="34" charset="0"/>
              <a:buNone/>
            </a:pPr>
            <a:r>
              <a:rPr lang="en-US" sz="1600" b="1" dirty="0"/>
              <a:t>Enhancing Network Visibility</a:t>
            </a:r>
          </a:p>
          <a:p>
            <a:pPr marL="0" lvl="1" indent="0">
              <a:lnSpc>
                <a:spcPct val="110000"/>
              </a:lnSpc>
              <a:spcAft>
                <a:spcPts val="600"/>
              </a:spcAft>
              <a:buFont typeface="Arial" panose="020B0604020202020204" pitchFamily="34" charset="0"/>
              <a:buNone/>
            </a:pPr>
            <a:r>
              <a:rPr lang="en-US" sz="1600" dirty="0"/>
              <a:t>Improve supply chain visibility through technologies like RFID, satellite tracking, and supply chain event management.</a:t>
            </a:r>
          </a:p>
        </p:txBody>
      </p:sp>
    </p:spTree>
    <p:extLst>
      <p:ext uri="{BB962C8B-B14F-4D97-AF65-F5344CB8AC3E}">
        <p14:creationId xmlns:p14="http://schemas.microsoft.com/office/powerpoint/2010/main" val="31882195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CBB19-3023-29E2-F0DD-F8E1D0E76EED}"/>
              </a:ext>
            </a:extLst>
          </p:cNvPr>
          <p:cNvSpPr>
            <a:spLocks noGrp="1"/>
          </p:cNvSpPr>
          <p:nvPr>
            <p:ph type="ctrTitle"/>
          </p:nvPr>
        </p:nvSpPr>
        <p:spPr>
          <a:xfrm>
            <a:off x="457199" y="457200"/>
            <a:ext cx="7845553" cy="6172200"/>
          </a:xfrm>
        </p:spPr>
        <p:txBody>
          <a:bodyPr anchor="b">
            <a:normAutofit/>
          </a:bodyPr>
          <a:lstStyle/>
          <a:p>
            <a:r>
              <a:rPr lang="en-US"/>
              <a:t>Building Supply Chain Resilience</a:t>
            </a:r>
          </a:p>
        </p:txBody>
      </p:sp>
    </p:spTree>
    <p:extLst>
      <p:ext uri="{BB962C8B-B14F-4D97-AF65-F5344CB8AC3E}">
        <p14:creationId xmlns:p14="http://schemas.microsoft.com/office/powerpoint/2010/main" val="10887561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D1FD9-4CB5-C01C-498E-CD1FA85728E8}"/>
              </a:ext>
            </a:extLst>
          </p:cNvPr>
          <p:cNvSpPr>
            <a:spLocks noGrp="1"/>
          </p:cNvSpPr>
          <p:nvPr>
            <p:ph type="title"/>
          </p:nvPr>
        </p:nvSpPr>
        <p:spPr>
          <a:xfrm>
            <a:off x="457200" y="457201"/>
            <a:ext cx="5029200" cy="1519083"/>
          </a:xfrm>
        </p:spPr>
        <p:txBody>
          <a:bodyPr anchor="t">
            <a:normAutofit/>
          </a:bodyPr>
          <a:lstStyle/>
          <a:p>
            <a:r>
              <a:rPr lang="en-US"/>
              <a:t>Key Elements of Resilience</a:t>
            </a:r>
          </a:p>
        </p:txBody>
      </p:sp>
      <p:pic>
        <p:nvPicPr>
          <p:cNvPr id="5" name="Content Placeholder 4" descr="technology and innovation concept">
            <a:extLst>
              <a:ext uri="{FF2B5EF4-FFF2-40B4-BE49-F238E27FC236}">
                <a16:creationId xmlns:a16="http://schemas.microsoft.com/office/drawing/2014/main" id="{67D88860-A44F-46EE-B902-8207D5429010}"/>
              </a:ext>
            </a:extLst>
          </p:cNvPr>
          <p:cNvPicPr>
            <a:picLocks noGrp="1" noChangeAspect="1"/>
          </p:cNvPicPr>
          <p:nvPr>
            <p:ph type="pic" sz="quarter" idx="13"/>
          </p:nvPr>
        </p:nvPicPr>
        <p:blipFill>
          <a:blip r:embed="rId3"/>
          <a:srcRect l="16808" r="11985" b="-2"/>
          <a:stretch>
            <a:fillRect/>
          </a:stretch>
        </p:blipFill>
        <p:spPr>
          <a:xfrm>
            <a:off x="457200" y="2357283"/>
            <a:ext cx="5029199" cy="4043516"/>
          </a:xfrm>
        </p:spPr>
      </p:pic>
      <p:sp>
        <p:nvSpPr>
          <p:cNvPr id="4" name="Content Placeholder 3">
            <a:extLst>
              <a:ext uri="{FF2B5EF4-FFF2-40B4-BE49-F238E27FC236}">
                <a16:creationId xmlns:a16="http://schemas.microsoft.com/office/drawing/2014/main" id="{93E47715-C449-42F4-7FA8-42A5B784EFF6}"/>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sz="1600" b="1" dirty="0"/>
              <a:t>Agility and Flexibility</a:t>
            </a:r>
          </a:p>
          <a:p>
            <a:pPr marL="0" lvl="1" indent="0">
              <a:spcAft>
                <a:spcPts val="600"/>
              </a:spcAft>
              <a:buFont typeface="Arial" panose="020B0604020202020204" pitchFamily="34" charset="0"/>
              <a:buNone/>
            </a:pPr>
            <a:r>
              <a:rPr sz="1600" dirty="0"/>
              <a:t>Supply chains must be agile and flexible, using slack at bottlenecks to quickly ramp operations up or down during disruptions.</a:t>
            </a:r>
            <a:endParaRPr lang="en-US" sz="1600" dirty="0"/>
          </a:p>
          <a:p>
            <a:pPr marL="0" indent="0">
              <a:spcBef>
                <a:spcPts val="2500"/>
              </a:spcBef>
              <a:spcAft>
                <a:spcPts val="600"/>
              </a:spcAft>
              <a:buFont typeface="Arial" panose="020B0604020202020204" pitchFamily="34" charset="0"/>
              <a:buNone/>
            </a:pPr>
            <a:r>
              <a:rPr lang="en-US" sz="1600" b="1" dirty="0"/>
              <a:t>Visibility and Technology</a:t>
            </a:r>
          </a:p>
          <a:p>
            <a:pPr marL="0" lvl="1" indent="0">
              <a:spcAft>
                <a:spcPts val="600"/>
              </a:spcAft>
              <a:buFont typeface="Arial" panose="020B0604020202020204" pitchFamily="34" charset="0"/>
              <a:buNone/>
            </a:pPr>
            <a:r>
              <a:rPr sz="1600" dirty="0"/>
              <a:t>Technologies like RFID and satellite tracking provide transparency and early access to information for proactive supply chain responses.</a:t>
            </a:r>
            <a:endParaRPr lang="en-US" sz="1600" dirty="0"/>
          </a:p>
          <a:p>
            <a:pPr marL="0" indent="0">
              <a:spcBef>
                <a:spcPts val="2500"/>
              </a:spcBef>
              <a:spcAft>
                <a:spcPts val="600"/>
              </a:spcAft>
              <a:buFont typeface="Arial" panose="020B0604020202020204" pitchFamily="34" charset="0"/>
              <a:buNone/>
            </a:pPr>
            <a:r>
              <a:rPr lang="en-US" sz="1600" b="1" dirty="0"/>
              <a:t>Collaborative Intelligence</a:t>
            </a:r>
          </a:p>
          <a:p>
            <a:pPr marL="0" lvl="1" indent="0">
              <a:spcAft>
                <a:spcPts val="600"/>
              </a:spcAft>
              <a:buFont typeface="Arial" panose="020B0604020202020204" pitchFamily="34" charset="0"/>
              <a:buNone/>
            </a:pPr>
            <a:r>
              <a:rPr sz="1600" dirty="0"/>
              <a:t>Collaboration with suppliers and customers builds trust and shared responsibility across the network for resilience.</a:t>
            </a:r>
            <a:endParaRPr lang="en-US" sz="1600" dirty="0"/>
          </a:p>
          <a:p>
            <a:pPr marL="0" indent="0">
              <a:spcBef>
                <a:spcPts val="2500"/>
              </a:spcBef>
              <a:spcAft>
                <a:spcPts val="600"/>
              </a:spcAft>
              <a:buFont typeface="Arial" panose="020B0604020202020204" pitchFamily="34" charset="0"/>
              <a:buNone/>
            </a:pPr>
            <a:r>
              <a:rPr lang="en-US" sz="1600" b="1" dirty="0"/>
              <a:t>Governance and Risk Management</a:t>
            </a:r>
          </a:p>
          <a:p>
            <a:pPr marL="0" lvl="1" indent="0">
              <a:spcAft>
                <a:spcPts val="600"/>
              </a:spcAft>
              <a:buFont typeface="Arial" panose="020B0604020202020204" pitchFamily="34" charset="0"/>
              <a:buNone/>
            </a:pPr>
            <a:r>
              <a:rPr sz="1600" dirty="0"/>
              <a:t>Board oversight, risk registers, and strategic thinking embed resilience into organizational culture and decision-making.</a:t>
            </a:r>
            <a:endParaRPr lang="en-US" sz="1600" dirty="0"/>
          </a:p>
        </p:txBody>
      </p:sp>
    </p:spTree>
    <p:extLst>
      <p:ext uri="{BB962C8B-B14F-4D97-AF65-F5344CB8AC3E}">
        <p14:creationId xmlns:p14="http://schemas.microsoft.com/office/powerpoint/2010/main" val="40829542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E4E6F39-965A-B263-737D-C8632196AC34}"/>
              </a:ext>
            </a:extLst>
          </p:cNvPr>
          <p:cNvPicPr>
            <a:picLocks noChangeAspect="1"/>
          </p:cNvPicPr>
          <p:nvPr/>
        </p:nvPicPr>
        <p:blipFill>
          <a:blip r:embed="rId2"/>
          <a:stretch>
            <a:fillRect/>
          </a:stretch>
        </p:blipFill>
        <p:spPr>
          <a:xfrm rot="5400000">
            <a:off x="2813877" y="-1824488"/>
            <a:ext cx="6564246" cy="10506975"/>
          </a:xfrm>
          <a:prstGeom prst="rect">
            <a:avLst/>
          </a:prstGeom>
        </p:spPr>
      </p:pic>
    </p:spTree>
    <p:extLst>
      <p:ext uri="{BB962C8B-B14F-4D97-AF65-F5344CB8AC3E}">
        <p14:creationId xmlns:p14="http://schemas.microsoft.com/office/powerpoint/2010/main" val="2069220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20ECB87-6DC9-75E4-278B-0BE4B56E03D0}"/>
              </a:ext>
            </a:extLst>
          </p:cNvPr>
          <p:cNvPicPr>
            <a:picLocks noChangeAspect="1"/>
          </p:cNvPicPr>
          <p:nvPr/>
        </p:nvPicPr>
        <p:blipFill>
          <a:blip r:embed="rId2"/>
          <a:stretch>
            <a:fillRect/>
          </a:stretch>
        </p:blipFill>
        <p:spPr>
          <a:xfrm rot="5400000">
            <a:off x="2751621" y="-2197431"/>
            <a:ext cx="6352428" cy="10909740"/>
          </a:xfrm>
          <a:prstGeom prst="rect">
            <a:avLst/>
          </a:prstGeom>
        </p:spPr>
      </p:pic>
    </p:spTree>
    <p:extLst>
      <p:ext uri="{BB962C8B-B14F-4D97-AF65-F5344CB8AC3E}">
        <p14:creationId xmlns:p14="http://schemas.microsoft.com/office/powerpoint/2010/main" val="3478775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0362D-7D5B-9FBD-6E37-6D0971B11FED}"/>
              </a:ext>
            </a:extLst>
          </p:cNvPr>
          <p:cNvSpPr>
            <a:spLocks noGrp="1"/>
          </p:cNvSpPr>
          <p:nvPr>
            <p:ph type="ctrTitle"/>
          </p:nvPr>
        </p:nvSpPr>
        <p:spPr>
          <a:xfrm>
            <a:off x="457199" y="457200"/>
            <a:ext cx="9982201" cy="6172200"/>
          </a:xfrm>
        </p:spPr>
        <p:txBody>
          <a:bodyPr anchor="b">
            <a:normAutofit/>
          </a:bodyPr>
          <a:lstStyle/>
          <a:p>
            <a:r>
              <a:rPr lang="en-US"/>
              <a:t>Case Studies and Lessons Learned</a:t>
            </a:r>
          </a:p>
        </p:txBody>
      </p:sp>
    </p:spTree>
    <p:extLst>
      <p:ext uri="{BB962C8B-B14F-4D97-AF65-F5344CB8AC3E}">
        <p14:creationId xmlns:p14="http://schemas.microsoft.com/office/powerpoint/2010/main" val="36786075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B1936-5508-9E8A-53DC-ABC2BCE94FF0}"/>
              </a:ext>
            </a:extLst>
          </p:cNvPr>
          <p:cNvSpPr>
            <a:spLocks noGrp="1"/>
          </p:cNvSpPr>
          <p:nvPr>
            <p:ph type="title"/>
          </p:nvPr>
        </p:nvSpPr>
        <p:spPr>
          <a:xfrm>
            <a:off x="457200" y="457201"/>
            <a:ext cx="5029200" cy="1519083"/>
          </a:xfrm>
        </p:spPr>
        <p:txBody>
          <a:bodyPr anchor="t">
            <a:normAutofit/>
          </a:bodyPr>
          <a:lstStyle/>
          <a:p>
            <a:r>
              <a:rPr lang="en-US"/>
              <a:t>Mattel, Toyota, and Nokia vs Ericsson</a:t>
            </a:r>
          </a:p>
        </p:txBody>
      </p:sp>
      <p:pic>
        <p:nvPicPr>
          <p:cNvPr id="5" name="Content Placeholder 4" descr="&quot;Three tubes with green, yellow and red paint.&quot;">
            <a:extLst>
              <a:ext uri="{FF2B5EF4-FFF2-40B4-BE49-F238E27FC236}">
                <a16:creationId xmlns:a16="http://schemas.microsoft.com/office/drawing/2014/main" id="{3B2A0FCE-64F9-401F-8D1E-076AE7D7DD49}"/>
              </a:ext>
            </a:extLst>
          </p:cNvPr>
          <p:cNvPicPr>
            <a:picLocks noGrp="1" noChangeAspect="1"/>
          </p:cNvPicPr>
          <p:nvPr>
            <p:ph type="pic" sz="quarter" idx="13"/>
          </p:nvPr>
        </p:nvPicPr>
        <p:blipFill>
          <a:blip r:embed="rId3"/>
          <a:srcRect l="10434" r="6543" b="-2"/>
          <a:stretch>
            <a:fillRect/>
          </a:stretch>
        </p:blipFill>
        <p:spPr>
          <a:xfrm>
            <a:off x="457200" y="2357283"/>
            <a:ext cx="5029199" cy="4043516"/>
          </a:xfrm>
        </p:spPr>
      </p:pic>
      <p:sp>
        <p:nvSpPr>
          <p:cNvPr id="4" name="Content Placeholder 3">
            <a:extLst>
              <a:ext uri="{FF2B5EF4-FFF2-40B4-BE49-F238E27FC236}">
                <a16:creationId xmlns:a16="http://schemas.microsoft.com/office/drawing/2014/main" id="{EE3BCC0A-62C0-756A-DF72-70C3165D6988}"/>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b="1"/>
              <a:t>Mattel Recall Incident</a:t>
            </a:r>
          </a:p>
          <a:p>
            <a:pPr marL="0" lvl="1" indent="0">
              <a:spcAft>
                <a:spcPts val="600"/>
              </a:spcAft>
              <a:buFont typeface="Arial" panose="020B0604020202020204" pitchFamily="34" charset="0"/>
              <a:buNone/>
            </a:pPr>
            <a:r>
              <a:t>Mattel’s $110 million recall in 2007 exposed risks from second-tier suppliers and the need for deeper supplier visibility.</a:t>
            </a:r>
            <a:endParaRPr lang="en-US"/>
          </a:p>
          <a:p>
            <a:pPr marL="0" indent="0">
              <a:spcBef>
                <a:spcPts val="2500"/>
              </a:spcBef>
              <a:spcAft>
                <a:spcPts val="600"/>
              </a:spcAft>
              <a:buFont typeface="Arial" panose="020B0604020202020204" pitchFamily="34" charset="0"/>
              <a:buNone/>
            </a:pPr>
            <a:r>
              <a:rPr lang="en-US" b="1"/>
              <a:t>Toyota Global Recalls</a:t>
            </a:r>
          </a:p>
          <a:p>
            <a:pPr marL="0" lvl="1" indent="0">
              <a:spcAft>
                <a:spcPts val="600"/>
              </a:spcAft>
              <a:buFont typeface="Arial" panose="020B0604020202020204" pitchFamily="34" charset="0"/>
              <a:buNone/>
            </a:pPr>
            <a:r>
              <a:t>Toyota’s 2009–2010 recalls revealed risks from supplier over-reliance and highlighted balancing lean manufacturing with risk control.</a:t>
            </a:r>
            <a:endParaRPr lang="en-US"/>
          </a:p>
          <a:p>
            <a:pPr marL="0" indent="0">
              <a:spcBef>
                <a:spcPts val="2500"/>
              </a:spcBef>
              <a:spcAft>
                <a:spcPts val="600"/>
              </a:spcAft>
              <a:buFont typeface="Arial" panose="020B0604020202020204" pitchFamily="34" charset="0"/>
              <a:buNone/>
            </a:pPr>
            <a:r>
              <a:rPr lang="en-US" b="1"/>
              <a:t>Nokia and Ericsson Disruptions</a:t>
            </a:r>
          </a:p>
          <a:p>
            <a:pPr marL="0" lvl="1" indent="0">
              <a:spcAft>
                <a:spcPts val="600"/>
              </a:spcAft>
              <a:buFont typeface="Arial" panose="020B0604020202020204" pitchFamily="34" charset="0"/>
              <a:buNone/>
            </a:pPr>
            <a:r>
              <a:t>Nokia’s swift event management enabled rapid recovery from a semiconductor factory fire, unlike Ericsson’s delayed response causing major losses.</a:t>
            </a:r>
            <a:endParaRPr lang="en-US"/>
          </a:p>
          <a:p>
            <a:pPr marL="0" indent="0">
              <a:spcBef>
                <a:spcPts val="2500"/>
              </a:spcBef>
              <a:spcAft>
                <a:spcPts val="600"/>
              </a:spcAft>
              <a:buFont typeface="Arial" panose="020B0604020202020204" pitchFamily="34" charset="0"/>
              <a:buNone/>
            </a:pPr>
            <a:r>
              <a:rPr lang="en-US" b="1"/>
              <a:t>Lessons on Risk Management</a:t>
            </a:r>
          </a:p>
          <a:p>
            <a:pPr marL="0" lvl="1" indent="0">
              <a:spcAft>
                <a:spcPts val="600"/>
              </a:spcAft>
              <a:buFont typeface="Arial" panose="020B0604020202020204" pitchFamily="34" charset="0"/>
              <a:buNone/>
            </a:pPr>
            <a:r>
              <a:t>Proactive risk mapping, collaboration, and visibility tools are critical for building resilient supply chains and avoiding costly disruptions.</a:t>
            </a:r>
            <a:endParaRPr lang="en-US"/>
          </a:p>
        </p:txBody>
      </p:sp>
    </p:spTree>
    <p:extLst>
      <p:ext uri="{BB962C8B-B14F-4D97-AF65-F5344CB8AC3E}">
        <p14:creationId xmlns:p14="http://schemas.microsoft.com/office/powerpoint/2010/main" val="32565503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478BA-031C-8669-4272-6BE9E1187207}"/>
              </a:ext>
            </a:extLst>
          </p:cNvPr>
          <p:cNvSpPr>
            <a:spLocks noGrp="1"/>
          </p:cNvSpPr>
          <p:nvPr>
            <p:ph type="ctrTitle"/>
          </p:nvPr>
        </p:nvSpPr>
        <p:spPr>
          <a:xfrm>
            <a:off x="457199" y="457200"/>
            <a:ext cx="7845553" cy="6172200"/>
          </a:xfrm>
        </p:spPr>
        <p:txBody>
          <a:bodyPr anchor="b">
            <a:normAutofit/>
          </a:bodyPr>
          <a:lstStyle/>
          <a:p>
            <a:r>
              <a:rPr lang="en-US"/>
              <a:t>Conclusion and Actionable Steps</a:t>
            </a:r>
          </a:p>
        </p:txBody>
      </p:sp>
    </p:spTree>
    <p:extLst>
      <p:ext uri="{BB962C8B-B14F-4D97-AF65-F5344CB8AC3E}">
        <p14:creationId xmlns:p14="http://schemas.microsoft.com/office/powerpoint/2010/main" val="3552394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2C50-8EDC-06E1-066E-41FC9DF68D57}"/>
              </a:ext>
            </a:extLst>
          </p:cNvPr>
          <p:cNvSpPr>
            <a:spLocks noGrp="1"/>
          </p:cNvSpPr>
          <p:nvPr>
            <p:ph type="title"/>
          </p:nvPr>
        </p:nvSpPr>
        <p:spPr>
          <a:xfrm>
            <a:off x="457200" y="457201"/>
            <a:ext cx="5029200" cy="1519083"/>
          </a:xfrm>
        </p:spPr>
        <p:txBody>
          <a:bodyPr anchor="t">
            <a:normAutofit/>
          </a:bodyPr>
          <a:lstStyle/>
          <a:p>
            <a:r>
              <a:rPr lang="en-US"/>
              <a:t>Key Takeaways for Implementation</a:t>
            </a:r>
          </a:p>
        </p:txBody>
      </p:sp>
      <p:pic>
        <p:nvPicPr>
          <p:cNvPr id="5" name="Content Placeholder 4" descr="People talking at workplace">
            <a:extLst>
              <a:ext uri="{FF2B5EF4-FFF2-40B4-BE49-F238E27FC236}">
                <a16:creationId xmlns:a16="http://schemas.microsoft.com/office/drawing/2014/main" id="{C51F619C-FA4E-40BA-A918-0D9FB334AF55}"/>
              </a:ext>
            </a:extLst>
          </p:cNvPr>
          <p:cNvPicPr>
            <a:picLocks noGrp="1" noChangeAspect="1"/>
          </p:cNvPicPr>
          <p:nvPr>
            <p:ph type="pic" sz="quarter" idx="13"/>
          </p:nvPr>
        </p:nvPicPr>
        <p:blipFill>
          <a:blip r:embed="rId3"/>
          <a:srcRect r="17288" b="-1"/>
          <a:stretch>
            <a:fillRect/>
          </a:stretch>
        </p:blipFill>
        <p:spPr>
          <a:xfrm>
            <a:off x="457200" y="2357283"/>
            <a:ext cx="5029199" cy="4043516"/>
          </a:xfrm>
        </p:spPr>
      </p:pic>
      <p:sp>
        <p:nvSpPr>
          <p:cNvPr id="4" name="Content Placeholder 3">
            <a:extLst>
              <a:ext uri="{FF2B5EF4-FFF2-40B4-BE49-F238E27FC236}">
                <a16:creationId xmlns:a16="http://schemas.microsoft.com/office/drawing/2014/main" id="{1DB10342-C2C2-0340-1E7E-1E000DBF41A8}"/>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b="1"/>
              <a:t>Cross-functional Teams &amp; Risk Register</a:t>
            </a:r>
          </a:p>
          <a:p>
            <a:pPr marL="0" lvl="1" indent="0">
              <a:spcAft>
                <a:spcPts val="600"/>
              </a:spcAft>
              <a:buFont typeface="Arial" panose="020B0604020202020204" pitchFamily="34" charset="0"/>
              <a:buNone/>
            </a:pPr>
            <a:r>
              <a:t>Establish diverse continuity teams and maintain an active risk register to manage supply chain risks effectively.</a:t>
            </a:r>
            <a:endParaRPr lang="en-US"/>
          </a:p>
          <a:p>
            <a:pPr marL="0" indent="0">
              <a:spcBef>
                <a:spcPts val="2500"/>
              </a:spcBef>
              <a:spcAft>
                <a:spcPts val="600"/>
              </a:spcAft>
              <a:buFont typeface="Arial" panose="020B0604020202020204" pitchFamily="34" charset="0"/>
              <a:buNone/>
            </a:pPr>
            <a:r>
              <a:rPr lang="en-US" b="1"/>
              <a:t>Scenario Drills &amp; Monitoring</a:t>
            </a:r>
          </a:p>
          <a:p>
            <a:pPr marL="0" lvl="1" indent="0">
              <a:spcAft>
                <a:spcPts val="600"/>
              </a:spcAft>
              <a:buFont typeface="Arial" panose="020B0604020202020204" pitchFamily="34" charset="0"/>
              <a:buNone/>
            </a:pPr>
            <a:r>
              <a:t>Conduct quarterly scenario drills with partners and instrument critical paths with monitoring tools for better preparedness.</a:t>
            </a:r>
            <a:endParaRPr lang="en-US"/>
          </a:p>
          <a:p>
            <a:pPr marL="0" indent="0">
              <a:spcBef>
                <a:spcPts val="2500"/>
              </a:spcBef>
              <a:spcAft>
                <a:spcPts val="600"/>
              </a:spcAft>
              <a:buFont typeface="Arial" panose="020B0604020202020204" pitchFamily="34" charset="0"/>
              <a:buNone/>
            </a:pPr>
            <a:r>
              <a:rPr lang="en-US" b="1"/>
              <a:t>Integrated Risk in Decisions</a:t>
            </a:r>
          </a:p>
          <a:p>
            <a:pPr marL="0" lvl="1" indent="0">
              <a:spcAft>
                <a:spcPts val="600"/>
              </a:spcAft>
              <a:buFont typeface="Arial" panose="020B0604020202020204" pitchFamily="34" charset="0"/>
              <a:buNone/>
            </a:pPr>
            <a:r>
              <a:t>Incorporate risk considerations into sourcing and design decisions to reduce vulnerabilities early in the process.</a:t>
            </a:r>
            <a:endParaRPr lang="en-US"/>
          </a:p>
          <a:p>
            <a:pPr marL="0" indent="0">
              <a:spcBef>
                <a:spcPts val="2500"/>
              </a:spcBef>
              <a:spcAft>
                <a:spcPts val="600"/>
              </a:spcAft>
              <a:buFont typeface="Arial" panose="020B0604020202020204" pitchFamily="34" charset="0"/>
              <a:buNone/>
            </a:pPr>
            <a:r>
              <a:rPr lang="en-US" b="1"/>
              <a:t>Collaborative Planning &amp; Technology</a:t>
            </a:r>
          </a:p>
          <a:p>
            <a:pPr marL="0" lvl="1" indent="0">
              <a:spcAft>
                <a:spcPts val="600"/>
              </a:spcAft>
              <a:buFont typeface="Arial" panose="020B0604020202020204" pitchFamily="34" charset="0"/>
              <a:buNone/>
            </a:pPr>
            <a:r>
              <a:t>Collaborate with suppliers and customers using technology for visibility and agility to respond swiftly to disruptions.</a:t>
            </a:r>
            <a:endParaRPr lang="en-US"/>
          </a:p>
        </p:txBody>
      </p:sp>
    </p:spTree>
    <p:extLst>
      <p:ext uri="{BB962C8B-B14F-4D97-AF65-F5344CB8AC3E}">
        <p14:creationId xmlns:p14="http://schemas.microsoft.com/office/powerpoint/2010/main" val="22665637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Prismatic polygons">
  <a:themeElements>
    <a:clrScheme name="Glassmorphism">
      <a:dk1>
        <a:srgbClr val="2A0053"/>
      </a:dk1>
      <a:lt1>
        <a:srgbClr val="FFFFFF"/>
      </a:lt1>
      <a:dk2>
        <a:srgbClr val="000000"/>
      </a:dk2>
      <a:lt2>
        <a:srgbClr val="EEEFE7"/>
      </a:lt2>
      <a:accent1>
        <a:srgbClr val="FF8A28"/>
      </a:accent1>
      <a:accent2>
        <a:srgbClr val="F195FF"/>
      </a:accent2>
      <a:accent3>
        <a:srgbClr val="E227FF"/>
      </a:accent3>
      <a:accent4>
        <a:srgbClr val="FF0004"/>
      </a:accent4>
      <a:accent5>
        <a:srgbClr val="1906C5"/>
      </a:accent5>
      <a:accent6>
        <a:srgbClr val="31B564"/>
      </a:accent6>
      <a:hlink>
        <a:srgbClr val="467886"/>
      </a:hlink>
      <a:folHlink>
        <a:srgbClr val="96607D"/>
      </a:folHlink>
    </a:clrScheme>
    <a:fontScheme name="Custom 82">
      <a:majorFont>
        <a:latin typeface="Chamberi Super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assmorphism_win32_SD_V5" id="{E43A2CAE-029B-46E8-8085-D6AC37FEAB72}" vid="{9BD0D0BD-C5D3-42A7-8670-EE25EA2223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2070</Words>
  <Application>Microsoft Office PowerPoint</Application>
  <PresentationFormat>Widescreen</PresentationFormat>
  <Paragraphs>135</Paragraphs>
  <Slides>20</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Light</vt:lpstr>
      <vt:lpstr>Arial</vt:lpstr>
      <vt:lpstr>Biome</vt:lpstr>
      <vt:lpstr>Chamberi Super Display</vt:lpstr>
      <vt:lpstr>Prismatic polygons</vt:lpstr>
      <vt:lpstr>Managing Risk in Supply Chains: Frameworks, Strategies &amp; Case Studies</vt:lpstr>
      <vt:lpstr>Introduction to Supply Chain Risk</vt:lpstr>
      <vt:lpstr>Understanding Supply Chain Risk and Its Impact</vt:lpstr>
      <vt:lpstr>Sources of Risk in Supply Chains</vt:lpstr>
      <vt:lpstr>Understanding the supply chain risk profile</vt:lpstr>
      <vt:lpstr>Five Key Sources of Risk</vt:lpstr>
      <vt:lpstr>Risk Assessment and Numerical Examples</vt:lpstr>
      <vt:lpstr>Developing a Risk Profile and Using FMEA</vt:lpstr>
      <vt:lpstr>Risk Mitigation Strategies</vt:lpstr>
      <vt:lpstr>Redundancy vs Flexibility</vt:lpstr>
      <vt:lpstr>Seven-Stage Risk Management Process</vt:lpstr>
      <vt:lpstr>Framework for Managing Supply Chain Risk</vt:lpstr>
      <vt:lpstr>Building Supply Chain Resilience</vt:lpstr>
      <vt:lpstr>Key Elements of Resilience</vt:lpstr>
      <vt:lpstr>PowerPoint Presentation</vt:lpstr>
      <vt:lpstr>PowerPoint Presentation</vt:lpstr>
      <vt:lpstr>Case Studies and Lessons Learned</vt:lpstr>
      <vt:lpstr>Mattel, Toyota, and Nokia vs Ericsson</vt:lpstr>
      <vt:lpstr>Conclusion and Actionable Steps</vt:lpstr>
      <vt:lpstr>Key Takeaways for Implementation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5</cp:revision>
  <dcterms:created xsi:type="dcterms:W3CDTF">2025-12-23T13:06:52Z</dcterms:created>
  <dcterms:modified xsi:type="dcterms:W3CDTF">2026-01-30T20:45:44Z</dcterms:modified>
</cp:coreProperties>
</file>