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1918" y="1286988"/>
            <a:ext cx="531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Creating the responsive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03" y="104360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C753E-5005-0D85-37A1-0EAC472A0BA6}"/>
              </a:ext>
            </a:extLst>
          </p:cNvPr>
          <p:cNvSpPr txBox="1"/>
          <p:nvPr/>
        </p:nvSpPr>
        <p:spPr>
          <a:xfrm>
            <a:off x="914400" y="1117098"/>
            <a:ext cx="670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Product ‘push’ versus demand ‘pull’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Japanese philosophy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foundations of agility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route-map to responsiveness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8F1561-441F-5049-5053-061C88E61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2" y="0"/>
            <a:ext cx="3950866" cy="2499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2D669-CC69-848A-F732-A35C6DB88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3552823" cy="2499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25C11-6419-6D59-74F6-5A54BEBA9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13" y="2800350"/>
            <a:ext cx="3857625" cy="147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B88A90-FF54-0B17-76B2-A4F1A17D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2343150"/>
            <a:ext cx="358036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10369-34BD-B0A2-F9A4-DE3B0A43F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66750"/>
            <a:ext cx="8763000" cy="3927873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US" b="1" dirty="0"/>
              <a:t>Push system</a:t>
            </a:r>
            <a:r>
              <a:rPr lang="en-US" dirty="0"/>
              <a:t> makes products based on </a:t>
            </a:r>
            <a:r>
              <a:rPr lang="en-US" i="1" dirty="0"/>
              <a:t>forecasts</a:t>
            </a:r>
            <a:r>
              <a:rPr lang="en-US" dirty="0"/>
              <a:t> (guessing demand) to have stock ready, like stocking groceries, while a </a:t>
            </a:r>
            <a:r>
              <a:rPr lang="en-US" b="1" dirty="0"/>
              <a:t>Pull system</a:t>
            </a:r>
            <a:r>
              <a:rPr lang="en-US" dirty="0"/>
              <a:t> makes products only when a </a:t>
            </a:r>
            <a:r>
              <a:rPr lang="en-US" i="1" dirty="0"/>
              <a:t>real order comes in</a:t>
            </a:r>
            <a:r>
              <a:rPr lang="en-US" dirty="0"/>
              <a:t>, like a custom-built computer, reducing waste but needing faster production.</a:t>
            </a:r>
            <a:br>
              <a:rPr lang="en-US" dirty="0"/>
            </a:br>
            <a:r>
              <a:rPr lang="en-US" dirty="0"/>
              <a:t>Inventory acts as a </a:t>
            </a:r>
            <a:r>
              <a:rPr lang="en-US" b="1" dirty="0"/>
              <a:t>buffer</a:t>
            </a:r>
            <a:r>
              <a:rPr lang="en-US" dirty="0"/>
              <a:t> between stages </a:t>
            </a:r>
          </a:p>
          <a:p>
            <a:pPr marL="0" lvl="0" indent="0" algn="just">
              <a:buNone/>
            </a:pPr>
            <a:r>
              <a:rPr lang="en-US" dirty="0"/>
              <a:t>	(factory → warehouse → RDC → customer).</a:t>
            </a:r>
          </a:p>
          <a:p>
            <a:pPr lvl="0" algn="just"/>
            <a:r>
              <a:rPr lang="en-US" dirty="0"/>
              <a:t>Typical characteristics:</a:t>
            </a:r>
          </a:p>
          <a:p>
            <a:pPr lvl="1" algn="just"/>
            <a:r>
              <a:rPr lang="en-US" dirty="0"/>
              <a:t>Batch production</a:t>
            </a:r>
          </a:p>
          <a:p>
            <a:pPr lvl="1" algn="just"/>
            <a:r>
              <a:rPr lang="en-US" dirty="0"/>
              <a:t>High work-in-progress (WIP)</a:t>
            </a:r>
          </a:p>
          <a:p>
            <a:pPr lvl="1" algn="just"/>
            <a:r>
              <a:rPr lang="en-US" dirty="0"/>
              <a:t>Risk of overstock or obsolescence</a:t>
            </a:r>
          </a:p>
          <a:p>
            <a:r>
              <a:rPr lang="en-US" b="1" dirty="0"/>
              <a:t>Key weakness:</a:t>
            </a:r>
            <a:br>
              <a:rPr lang="en-US" dirty="0"/>
            </a:br>
            <a:r>
              <a:rPr lang="en-US" dirty="0"/>
              <a:t>Forecast errors propagate upstream, leading to excess inventory and inefficient resource use.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8196C4-F237-B53B-2A3D-A708CB2B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6750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‘push’ versus demand ‘pull’</a:t>
            </a:r>
          </a:p>
        </p:txBody>
      </p:sp>
    </p:spTree>
    <p:extLst>
      <p:ext uri="{BB962C8B-B14F-4D97-AF65-F5344CB8AC3E}">
        <p14:creationId xmlns:p14="http://schemas.microsoft.com/office/powerpoint/2010/main" val="304677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D58E4B-6EF5-8DBB-5527-B764FAA4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57150"/>
            <a:ext cx="4953000" cy="472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803DC3-5071-7663-05BF-70806682D379}"/>
              </a:ext>
            </a:extLst>
          </p:cNvPr>
          <p:cNvSpPr txBox="1"/>
          <p:nvPr/>
        </p:nvSpPr>
        <p:spPr>
          <a:xfrm>
            <a:off x="1" y="57150"/>
            <a:ext cx="4571999" cy="482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Pull System (Just-in-Time)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Activities are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triggered by actual demand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from downstream stages.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Demand at the customer end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pulls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products and components through the system.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Inventory is minimized and synchronized with demand.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Core JIT principle: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 activity should take place until there is a downstream requirement.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Strategic implication:</a:t>
            </a:r>
            <a:b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Pull systems improve responsiveness, reduce inventory costs, and expose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355138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55A6A-6666-F377-A46F-F97099E23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7150"/>
            <a:ext cx="6705600" cy="4800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Reorder Point (ROP) Method of Stock Control Concept (Ref PPC)</a:t>
            </a:r>
            <a:endParaRPr lang="en-US" dirty="0"/>
          </a:p>
          <a:p>
            <a:r>
              <a:rPr lang="en-US" dirty="0"/>
              <a:t>Inventory is replenished when stock falls to a predetermined </a:t>
            </a:r>
            <a:r>
              <a:rPr lang="en-US" b="1" dirty="0"/>
              <a:t>reorder point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Key Elements</a:t>
            </a:r>
            <a:endParaRPr lang="en-US" dirty="0"/>
          </a:p>
          <a:p>
            <a:r>
              <a:rPr lang="en-US" dirty="0"/>
              <a:t>Reorder Point (ROP) = Average demand during lead time + Safety stock</a:t>
            </a:r>
          </a:p>
          <a:p>
            <a:pPr lvl="0"/>
            <a:r>
              <a:rPr lang="en-US" dirty="0"/>
              <a:t>Lead time: Time between placing and receiving an order</a:t>
            </a:r>
          </a:p>
          <a:p>
            <a:pPr lvl="0"/>
            <a:r>
              <a:rPr lang="en-US" dirty="0"/>
              <a:t>Order quantity: Often determined using EOQ</a:t>
            </a:r>
          </a:p>
          <a:p>
            <a:pPr marL="0" indent="0">
              <a:buNone/>
            </a:pPr>
            <a:r>
              <a:rPr lang="en-US" b="1" dirty="0"/>
              <a:t>Strengths</a:t>
            </a:r>
            <a:endParaRPr lang="en-US" dirty="0"/>
          </a:p>
          <a:p>
            <a:pPr lvl="0"/>
            <a:r>
              <a:rPr lang="en-US" dirty="0"/>
              <a:t>Simple and widely used</a:t>
            </a:r>
          </a:p>
          <a:p>
            <a:pPr lvl="0"/>
            <a:r>
              <a:rPr lang="en-US" dirty="0"/>
              <a:t>Suitable for </a:t>
            </a:r>
            <a:r>
              <a:rPr lang="en-US" b="1" dirty="0"/>
              <a:t>independent demand</a:t>
            </a:r>
            <a:r>
              <a:rPr lang="en-US" dirty="0"/>
              <a:t> items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  <a:endParaRPr lang="en-US" dirty="0"/>
          </a:p>
          <a:p>
            <a:pPr lvl="0"/>
            <a:r>
              <a:rPr lang="en-US" dirty="0"/>
              <a:t>Assumes stable demand and lead time</a:t>
            </a:r>
          </a:p>
          <a:p>
            <a:pPr lvl="0"/>
            <a:r>
              <a:rPr lang="en-US" dirty="0"/>
              <a:t>Performs poorly when demand is:</a:t>
            </a:r>
          </a:p>
          <a:p>
            <a:pPr lvl="1"/>
            <a:r>
              <a:rPr lang="en-US" dirty="0"/>
              <a:t>Volatile</a:t>
            </a:r>
          </a:p>
          <a:p>
            <a:pPr lvl="1"/>
            <a:r>
              <a:rPr lang="en-US" dirty="0"/>
              <a:t>Seasonal</a:t>
            </a:r>
          </a:p>
          <a:p>
            <a:pPr lvl="1"/>
            <a:r>
              <a:rPr lang="en-US" dirty="0"/>
              <a:t>Lumpy (discrete large orders)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7F64C-FD4D-C615-0694-78044A38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96" y="2266950"/>
            <a:ext cx="435590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4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3D4F7-A3C2-F8D9-19EF-00C502B15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41113"/>
            <a:ext cx="5562600" cy="44612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Review Period Method of Stock Control</a:t>
            </a:r>
            <a:endParaRPr lang="en-US" dirty="0"/>
          </a:p>
          <a:p>
            <a:pPr lvl="0"/>
            <a:r>
              <a:rPr lang="en-US" dirty="0"/>
              <a:t>Inventory is reviewed at </a:t>
            </a:r>
            <a:r>
              <a:rPr lang="en-US" b="1" dirty="0"/>
              <a:t>fixed time intervals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Order quantity varies to raise stock up to a </a:t>
            </a:r>
            <a:r>
              <a:rPr lang="en-US" b="1" dirty="0"/>
              <a:t>target (replenishment) level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Key Features</a:t>
            </a:r>
            <a:endParaRPr lang="en-US" dirty="0"/>
          </a:p>
          <a:p>
            <a:pPr lvl="0"/>
            <a:r>
              <a:rPr lang="en-US" dirty="0"/>
              <a:t>Review period is constant</a:t>
            </a:r>
          </a:p>
          <a:p>
            <a:pPr lvl="0"/>
            <a:r>
              <a:rPr lang="en-US" dirty="0"/>
              <a:t>Order size is variable</a:t>
            </a:r>
          </a:p>
          <a:p>
            <a:pPr lvl="0"/>
            <a:r>
              <a:rPr lang="en-US" dirty="0"/>
              <a:t>Common in retail and multi-item environments</a:t>
            </a:r>
          </a:p>
          <a:p>
            <a:pPr marL="0" indent="0">
              <a:buNone/>
            </a:pPr>
            <a:r>
              <a:rPr lang="en-US" b="1" dirty="0"/>
              <a:t>Weakness</a:t>
            </a:r>
            <a:endParaRPr lang="en-US" dirty="0"/>
          </a:p>
          <a:p>
            <a:pPr lvl="0"/>
            <a:r>
              <a:rPr lang="en-US" dirty="0"/>
              <a:t>Inventory levels fluctuate widely</a:t>
            </a:r>
          </a:p>
          <a:p>
            <a:pPr lvl="0"/>
            <a:r>
              <a:rPr lang="en-US" dirty="0"/>
              <a:t>Risk of stockouts or excess stock between review periods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3B54D-8F46-165E-F6B1-3BCE9DDC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53" y="1733550"/>
            <a:ext cx="4254347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3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6F1F8-B405-21F0-EF36-1639135D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9550"/>
            <a:ext cx="5562600" cy="44612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Point and Dependent Demand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demand downstream becomes lumpy upstream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RDC inventory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many small, independent customer demands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Appears relatively smooth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warehouse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depends on RDC reorder decisions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Larger, less frequent orders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becomes irregular and highly variable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batching effect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final customer demand is stable,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reorder points amplifies variability upstream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Whilst independent demand may be forecast using traditional methods, dependent demand must be calculated, based upon the demand at the next level in the logistics chain.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70B64-25DF-D9F0-328B-18819318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97845"/>
            <a:ext cx="3733800" cy="435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D90B2-E4FE-986F-9701-0CCA7C94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4577"/>
            <a:ext cx="4078077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Causes of Uneven Demand at the Plant</a:t>
            </a:r>
            <a:endParaRPr lang="en-US" sz="1500" dirty="0"/>
          </a:p>
          <a:p>
            <a:r>
              <a:rPr lang="en-US" sz="1500" dirty="0"/>
              <a:t>Effect of demand aggregation and batching effects. </a:t>
            </a:r>
          </a:p>
          <a:p>
            <a:pPr marL="0" indent="0">
              <a:buNone/>
            </a:pPr>
            <a:r>
              <a:rPr lang="en-US" sz="1500" b="1" dirty="0"/>
              <a:t>Mechanism</a:t>
            </a:r>
            <a:endParaRPr lang="en-US" sz="1500" dirty="0"/>
          </a:p>
          <a:p>
            <a:pPr lvl="0"/>
            <a:r>
              <a:rPr lang="en-US" sz="1500" dirty="0"/>
              <a:t>Depots place orders in </a:t>
            </a:r>
            <a:r>
              <a:rPr lang="en-US" sz="1500" b="1" dirty="0"/>
              <a:t>fixed multiples</a:t>
            </a:r>
            <a:r>
              <a:rPr lang="en-US" sz="1500" dirty="0"/>
              <a:t> (e.g., 25 or 50 pallet loads)</a:t>
            </a:r>
          </a:p>
          <a:p>
            <a:pPr lvl="0"/>
            <a:r>
              <a:rPr lang="en-US" sz="1500" dirty="0"/>
              <a:t>Regional </a:t>
            </a:r>
            <a:r>
              <a:rPr lang="en-US" sz="1500" dirty="0" err="1"/>
              <a:t>centres</a:t>
            </a:r>
            <a:r>
              <a:rPr lang="en-US" sz="1500" dirty="0"/>
              <a:t> aggregate depot orders</a:t>
            </a:r>
          </a:p>
          <a:p>
            <a:pPr lvl="0"/>
            <a:r>
              <a:rPr lang="en-US" sz="1500" dirty="0"/>
              <a:t>Factory sees:</a:t>
            </a:r>
          </a:p>
          <a:p>
            <a:pPr lvl="1"/>
            <a:r>
              <a:rPr lang="en-US" sz="1500" dirty="0"/>
              <a:t>Large spikes</a:t>
            </a:r>
          </a:p>
          <a:p>
            <a:pPr lvl="1"/>
            <a:r>
              <a:rPr lang="en-US" sz="1500" dirty="0"/>
              <a:t>Periods of zero demand</a:t>
            </a:r>
          </a:p>
          <a:p>
            <a:pPr marL="0" indent="0">
              <a:buNone/>
            </a:pPr>
            <a:r>
              <a:rPr lang="en-US" sz="1500" b="1" dirty="0"/>
              <a:t>Result</a:t>
            </a:r>
            <a:endParaRPr lang="en-US" sz="1500" dirty="0"/>
          </a:p>
          <a:p>
            <a:pPr lvl="0"/>
            <a:r>
              <a:rPr lang="en-US" sz="1500" dirty="0"/>
              <a:t>Artificial demand variability</a:t>
            </a:r>
          </a:p>
          <a:p>
            <a:pPr lvl="0"/>
            <a:r>
              <a:rPr lang="en-US" sz="1500" dirty="0"/>
              <a:t>Poor capacity utilization</a:t>
            </a:r>
          </a:p>
          <a:p>
            <a:pPr lvl="0"/>
            <a:r>
              <a:rPr lang="en-US" sz="1500" dirty="0"/>
              <a:t>Increased inventory and scheduling inefficiencies</a:t>
            </a:r>
          </a:p>
          <a:p>
            <a:r>
              <a:rPr lang="en-US" sz="1500" dirty="0"/>
              <a:t>This phenomenon is closely related to the </a:t>
            </a:r>
            <a:r>
              <a:rPr lang="en-US" sz="1500" b="1" dirty="0"/>
              <a:t>bullwhip effect</a:t>
            </a:r>
            <a:r>
              <a:rPr lang="en-US" sz="1500" dirty="0"/>
              <a:t>. (Small changes in consumer demand cause progressively larger fluctuations in orders upstream)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A8F1D-AB8C-8D84-AA19-99471D37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477" y="361950"/>
            <a:ext cx="4876800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9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414743-FBF0-680D-EBD4-BB07CEDE7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89976"/>
              </p:ext>
            </p:extLst>
          </p:nvPr>
        </p:nvGraphicFramePr>
        <p:xfrm>
          <a:off x="228600" y="218947"/>
          <a:ext cx="8839200" cy="4705605"/>
        </p:xfrm>
        <a:graphic>
          <a:graphicData uri="http://schemas.openxmlformats.org/drawingml/2006/table">
            <a:tbl>
              <a:tblPr/>
              <a:tblGrid>
                <a:gridCol w="2266462">
                  <a:extLst>
                    <a:ext uri="{9D8B030D-6E8A-4147-A177-3AD203B41FA5}">
                      <a16:colId xmlns:a16="http://schemas.microsoft.com/office/drawing/2014/main" val="2661699136"/>
                    </a:ext>
                  </a:extLst>
                </a:gridCol>
                <a:gridCol w="3173046">
                  <a:extLst>
                    <a:ext uri="{9D8B030D-6E8A-4147-A177-3AD203B41FA5}">
                      <a16:colId xmlns:a16="http://schemas.microsoft.com/office/drawing/2014/main" val="3625167857"/>
                    </a:ext>
                  </a:extLst>
                </a:gridCol>
                <a:gridCol w="3399692">
                  <a:extLst>
                    <a:ext uri="{9D8B030D-6E8A-4147-A177-3AD203B41FA5}">
                      <a16:colId xmlns:a16="http://schemas.microsoft.com/office/drawing/2014/main" val="2576747187"/>
                    </a:ext>
                  </a:extLst>
                </a:gridCol>
              </a:tblGrid>
              <a:tr h="225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Basis of Comparison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Independent Demand</a:t>
                      </a:r>
                      <a:endParaRPr lang="en-US" sz="1400"/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Dependent Demand</a:t>
                      </a:r>
                      <a:endParaRPr lang="en-US" sz="1400"/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733268"/>
                  </a:ext>
                </a:extLst>
              </a:tr>
              <a:tr h="559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Meaning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Demand not directly related to demand for any other item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Demand directly derived from demand for another item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223"/>
                  </a:ext>
                </a:extLst>
              </a:tr>
              <a:tr h="559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Relationship with other items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Unrelated to other products or components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Dependent on demand for finished goods or parent items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57208"/>
                  </a:ext>
                </a:extLst>
              </a:tr>
              <a:tr h="559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Position in supply chain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Occurs at the </a:t>
                      </a:r>
                      <a:r>
                        <a:rPr lang="en-US" sz="1400" b="1"/>
                        <a:t>final demand point</a:t>
                      </a:r>
                      <a:endParaRPr lang="en-US" sz="1400"/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Occurs </a:t>
                      </a:r>
                      <a:r>
                        <a:rPr lang="en-US" sz="1400" b="1"/>
                        <a:t>upstream</a:t>
                      </a:r>
                      <a:r>
                        <a:rPr lang="en-US" sz="1400"/>
                        <a:t> (warehouse, factory, suppliers)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633237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Source of demand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External customers or market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Internal requirements of the supply chain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056423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Nature of demand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Random and uncertain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Deterministic once final demand is known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344251"/>
                  </a:ext>
                </a:extLst>
              </a:tr>
              <a:tr h="225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Planning approach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Forecasted</a:t>
                      </a:r>
                      <a:endParaRPr lang="en-US" sz="1400"/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Calculated</a:t>
                      </a:r>
                      <a:r>
                        <a:rPr lang="en-US" sz="1400"/>
                        <a:t>, not forecasted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164229"/>
                  </a:ext>
                </a:extLst>
              </a:tr>
              <a:tr h="559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Typical tools used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 series forecasting, regression, qualitative methods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BOM, MRP, production schedules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886421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 pattern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Generally smooth (if market stable)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Often lumpy if poorly coordinated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037171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Inventory implication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Higher safety stock required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Lower safety stock if properly planned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180270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Examples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Retail customer demand, depot demand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Component demand, raw material demand</a:t>
                      </a:r>
                    </a:p>
                  </a:txBody>
                  <a:tcPr marL="40892" marR="40892" marT="20446" marB="20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94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7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4878-C22D-2630-CD74-7B2792E9C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0252"/>
            <a:ext cx="8229600" cy="6988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Japanese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3295-DED1-1BA7-5D10-837E620D0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19150"/>
            <a:ext cx="8839200" cy="420409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Inventory Hides the Problems</a:t>
            </a:r>
          </a:p>
          <a:p>
            <a:r>
              <a:rPr lang="en-US" dirty="0"/>
              <a:t>Japanese operations philosophy views inventory as waste.</a:t>
            </a:r>
          </a:p>
          <a:p>
            <a:r>
              <a:rPr lang="en-US" dirty="0"/>
              <a:t>High inventory hides inefficiencies instead of solving them.</a:t>
            </a:r>
          </a:p>
          <a:p>
            <a:r>
              <a:rPr lang="en-US" dirty="0"/>
              <a:t>Reducing inventory exposes operational problems.</a:t>
            </a:r>
          </a:p>
          <a:p>
            <a:pPr marL="0" indent="0">
              <a:buNone/>
            </a:pPr>
            <a:r>
              <a:rPr lang="en-US" b="1" dirty="0"/>
              <a:t>Why Inventory is Dangerous</a:t>
            </a:r>
          </a:p>
          <a:p>
            <a:r>
              <a:rPr lang="en-US" dirty="0"/>
              <a:t>Masks demand variability</a:t>
            </a:r>
          </a:p>
          <a:p>
            <a:r>
              <a:rPr lang="en-US" dirty="0"/>
              <a:t>Hides supplier unreliability</a:t>
            </a:r>
          </a:p>
          <a:p>
            <a:r>
              <a:rPr lang="en-US" dirty="0"/>
              <a:t>Delays quality problem detection</a:t>
            </a:r>
          </a:p>
          <a:p>
            <a:r>
              <a:rPr lang="en-US" dirty="0"/>
              <a:t>Encourages inefficient processes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1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B88EB7-84DD-17CA-1BC1-C1F3F9071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81627"/>
              </p:ext>
            </p:extLst>
          </p:nvPr>
        </p:nvGraphicFramePr>
        <p:xfrm>
          <a:off x="647700" y="3228975"/>
          <a:ext cx="7848600" cy="1828800"/>
        </p:xfrm>
        <a:graphic>
          <a:graphicData uri="http://schemas.openxmlformats.org/drawingml/2006/table">
            <a:tbl>
              <a:tblPr/>
              <a:tblGrid>
                <a:gridCol w="3100681">
                  <a:extLst>
                    <a:ext uri="{9D8B030D-6E8A-4147-A177-3AD203B41FA5}">
                      <a16:colId xmlns:a16="http://schemas.microsoft.com/office/drawing/2014/main" val="3268171319"/>
                    </a:ext>
                  </a:extLst>
                </a:gridCol>
                <a:gridCol w="4747919">
                  <a:extLst>
                    <a:ext uri="{9D8B030D-6E8A-4147-A177-3AD203B41FA5}">
                      <a16:colId xmlns:a16="http://schemas.microsoft.com/office/drawing/2014/main" val="1112479677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Element in Diagram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Represents in 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9841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Water level (Inventory)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Amount of inventory held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6910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organization / production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058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Rocks below surface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Operational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6476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 water level (A)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Excess inventory hiding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02949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 water level 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Reduced inventory exposing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3657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9D129BC-071E-68FD-D365-5D76D550B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7070"/>
            <a:ext cx="56388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77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891E-63B6-6517-129A-5B98BB89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296" y="120252"/>
            <a:ext cx="9144000" cy="85725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Kanban: The Tool to Lower the Water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1E91-0A0C-4954-E1C0-FD15FEC80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77502"/>
            <a:ext cx="8839200" cy="404574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What is Kanban?</a:t>
            </a:r>
          </a:p>
          <a:p>
            <a:r>
              <a:rPr lang="en-US" dirty="0"/>
              <a:t>A </a:t>
            </a:r>
            <a:r>
              <a:rPr lang="en-US" b="1" dirty="0"/>
              <a:t>pull-based control system</a:t>
            </a:r>
            <a:endParaRPr lang="en-US" dirty="0"/>
          </a:p>
          <a:p>
            <a:r>
              <a:rPr lang="en-US" dirty="0"/>
              <a:t>Originated in Japanese assembly operations</a:t>
            </a:r>
          </a:p>
          <a:p>
            <a:r>
              <a:rPr lang="en-US" dirty="0"/>
              <a:t>Uses signals (originally cards) to authorize production or movement</a:t>
            </a:r>
          </a:p>
          <a:p>
            <a:pPr>
              <a:buNone/>
            </a:pPr>
            <a:r>
              <a:rPr lang="en-US" b="1" dirty="0"/>
              <a:t>Meaning of “Kanban”</a:t>
            </a:r>
          </a:p>
          <a:p>
            <a:pPr>
              <a:buNone/>
            </a:pPr>
            <a:r>
              <a:rPr lang="en-US" dirty="0"/>
              <a:t>Japanese word for a </a:t>
            </a:r>
            <a:r>
              <a:rPr lang="en-US" b="1" dirty="0"/>
              <a:t>signal card</a:t>
            </a:r>
            <a:r>
              <a:rPr lang="en-US" dirty="0"/>
              <a:t> that authorizes replenishment</a:t>
            </a:r>
          </a:p>
          <a:p>
            <a:pPr>
              <a:buNone/>
            </a:pPr>
            <a:r>
              <a:rPr lang="en-US" b="1" dirty="0"/>
              <a:t>Kanban Advantages</a:t>
            </a:r>
          </a:p>
          <a:p>
            <a:r>
              <a:rPr lang="en-US" dirty="0"/>
              <a:t>Production triggered by actual demand</a:t>
            </a:r>
          </a:p>
          <a:p>
            <a:r>
              <a:rPr lang="en-US" dirty="0"/>
              <a:t>Only required quantity produced</a:t>
            </a:r>
          </a:p>
          <a:p>
            <a:r>
              <a:rPr lang="en-US" dirty="0"/>
              <a:t>Low inventory levels</a:t>
            </a:r>
          </a:p>
          <a:p>
            <a:r>
              <a:rPr lang="en-US" dirty="0"/>
              <a:t>Problems exposed quickly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2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53A91-428F-895A-7A38-D2CF9F496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494162"/>
              </p:ext>
            </p:extLst>
          </p:nvPr>
        </p:nvGraphicFramePr>
        <p:xfrm>
          <a:off x="457200" y="742950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8961033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260349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Push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Pull (Kanban)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347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Production based on forecasts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Production based on actual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6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Inventory pushed downstream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Inventory pulled by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4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Problems hidden by buffers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Problems exposed quickly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612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4319A1F-3012-D92D-ED29-4B8A2018D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78998"/>
            <a:ext cx="413767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 as a Pull System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86A77-6357-F29E-3259-D256DE647040}"/>
              </a:ext>
            </a:extLst>
          </p:cNvPr>
          <p:cNvSpPr txBox="1"/>
          <p:nvPr/>
        </p:nvSpPr>
        <p:spPr>
          <a:xfrm>
            <a:off x="304800" y="2419350"/>
            <a:ext cx="6477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Kanban Works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Final demand triggers production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Assembly line pulls only what it needs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Each workstation pulls from the previous one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No production without a Kanban signal</a:t>
            </a:r>
          </a:p>
        </p:txBody>
      </p:sp>
    </p:spTree>
    <p:extLst>
      <p:ext uri="{BB962C8B-B14F-4D97-AF65-F5344CB8AC3E}">
        <p14:creationId xmlns:p14="http://schemas.microsoft.com/office/powerpoint/2010/main" val="49105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F2AC3B-D204-AE6A-9636-BED1FC7F1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36554"/>
              </p:ext>
            </p:extLst>
          </p:nvPr>
        </p:nvGraphicFramePr>
        <p:xfrm>
          <a:off x="152400" y="971550"/>
          <a:ext cx="4419600" cy="265176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190372725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994296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648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 Kanban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38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Lower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Bottlenecks appear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78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Bottleneck exposed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Management intervention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0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Bottleneck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Further Kanban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3767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8AB1FF7-4F6E-74C5-9D3E-2EDF942B6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8129"/>
            <a:ext cx="80377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Kanban Quantity = Revealing Problems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F528B-20FE-44B1-425E-796326F50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760572"/>
            <a:ext cx="42957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5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Example – Push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demand = 1,200 units/month</a:t>
            </a:r>
          </a:p>
          <a:p>
            <a:r>
              <a:t>Actual demand = 1,000 units/month</a:t>
            </a:r>
          </a:p>
          <a:p>
            <a:r>
              <a:t>Production = 1,200 units</a:t>
            </a:r>
          </a:p>
          <a:p>
            <a:r>
              <a:t>Ending inventory = 200 units/month</a:t>
            </a:r>
          </a:p>
          <a:p>
            <a:r>
              <a:t>Inventory builds up and hides demand 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Example – Pull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Actual customer demand = 1,000 units/month</a:t>
            </a:r>
          </a:p>
          <a:p>
            <a:r>
              <a:t>Production = 1,000 units</a:t>
            </a:r>
          </a:p>
          <a:p>
            <a:r>
              <a:t>Ending inventory = 0</a:t>
            </a:r>
          </a:p>
          <a:p>
            <a:r>
              <a:t>Any delay or defect immediately stops production</a:t>
            </a:r>
          </a:p>
          <a:p>
            <a:r>
              <a:t>Problems become visible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Reduction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Kanban quantity</a:t>
            </a:r>
          </a:p>
          <a:p>
            <a:r>
              <a:t>Inventory decreases</a:t>
            </a:r>
          </a:p>
          <a:p>
            <a:r>
              <a:t>Bottleneck appears</a:t>
            </a:r>
          </a:p>
          <a:p>
            <a:r>
              <a:t>Fix bottleneck</a:t>
            </a:r>
          </a:p>
          <a:p>
            <a:r>
              <a:t>Reduce Kanban again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Batch Quantity of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Japanese ideal</a:t>
            </a:r>
          </a:p>
          <a:p>
            <a:r>
              <a:t>Achieved by reducing setup and ordering costs</a:t>
            </a:r>
          </a:p>
          <a:p>
            <a:r>
              <a:t>Smaller batches become economical</a:t>
            </a:r>
          </a:p>
          <a:p>
            <a:r>
              <a:t>Supports Just-in-Time (JIT)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1041</Words>
  <Application>Microsoft Office PowerPoint</Application>
  <PresentationFormat>On-screen Show (16:9)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Product ‘push’ versus demand ‘pull’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Japanese philosophy</vt:lpstr>
      <vt:lpstr>PowerPoint Presentation</vt:lpstr>
      <vt:lpstr>Kanban: The Tool to Lower the Water Level</vt:lpstr>
      <vt:lpstr>PowerPoint Presentation</vt:lpstr>
      <vt:lpstr>PowerPoint Presentation</vt:lpstr>
      <vt:lpstr>Numerical Example – Push System</vt:lpstr>
      <vt:lpstr>Numerical Example – Pull System</vt:lpstr>
      <vt:lpstr>Kanban Reduction Logic</vt:lpstr>
      <vt:lpstr>Economic Batch Quantity of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Syed Rehan</cp:lastModifiedBy>
  <cp:revision>13</cp:revision>
  <dcterms:created xsi:type="dcterms:W3CDTF">2020-07-28T21:31:04Z</dcterms:created>
  <dcterms:modified xsi:type="dcterms:W3CDTF">2025-12-17T18:55:28Z</dcterms:modified>
</cp:coreProperties>
</file>