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5143500" type="screen16x9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1" d="100"/>
          <a:sy n="81" d="100"/>
        </p:scale>
        <p:origin x="864" y="10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AA4506-A915-448E-9713-B5DD9F6916BA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6F2F1A-C623-4ADB-A14D-87DE4DB5B6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33691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AA4506-A915-448E-9713-B5DD9F6916BA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6F2F1A-C623-4ADB-A14D-87DE4DB5B6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11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AA4506-A915-448E-9713-B5DD9F6916BA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6F2F1A-C623-4ADB-A14D-87DE4DB5B6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74438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900113"/>
            <a:ext cx="4038600" cy="2545556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900113"/>
            <a:ext cx="4038600" cy="2545556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AA4506-A915-448E-9713-B5DD9F6916BA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6F2F1A-C623-4ADB-A14D-87DE4DB5B6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99510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AA4506-A915-448E-9713-B5DD9F6916BA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6F2F1A-C623-4ADB-A14D-87DE4DB5B6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19187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AA4506-A915-448E-9713-B5DD9F6916BA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6F2F1A-C623-4ADB-A14D-87DE4DB5B6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94236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AA4506-A915-448E-9713-B5DD9F6916BA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6F2F1A-C623-4ADB-A14D-87DE4DB5B6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88664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AA4506-A915-448E-9713-B5DD9F6916BA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6F2F1A-C623-4ADB-A14D-87DE4DB5B6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91669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AA4506-A915-448E-9713-B5DD9F6916BA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6F2F1A-C623-4ADB-A14D-87DE4DB5B6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56507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AA4506-A915-448E-9713-B5DD9F6916BA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6F2F1A-C623-4ADB-A14D-87DE4DB5B6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26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54781"/>
            <a:ext cx="2057400" cy="329088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54781"/>
            <a:ext cx="6019800" cy="329088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AA4506-A915-448E-9713-B5DD9F6916BA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6F2F1A-C623-4ADB-A14D-87DE4DB5B6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4980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9AA4506-A915-448E-9713-B5DD9F6916BA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06F2F1A-C623-4ADB-A14D-87DE4DB5B6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77981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emf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emf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emf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C:\Users\ANZAR\Desktop\Training Course Templates\PPT 1\COver.jp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" y="152400"/>
            <a:ext cx="8971332" cy="49339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7" name="Picture 3" descr="C:\Users\ANZAR\Desktop\UMT LOGO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90918" y="2800350"/>
            <a:ext cx="762000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2590800" y="1353644"/>
            <a:ext cx="531373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/>
              <a:t>Measuring logistics costs and performance</a:t>
            </a:r>
            <a:endParaRPr lang="en-US" sz="3600" b="1" dirty="0">
              <a:solidFill>
                <a:schemeClr val="bg1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3581400" y="2488852"/>
            <a:ext cx="29718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en-US" sz="1400" dirty="0">
              <a:solidFill>
                <a:schemeClr val="bg1"/>
              </a:solidFill>
            </a:endParaRPr>
          </a:p>
          <a:p>
            <a:pPr algn="ctr"/>
            <a:endParaRPr lang="en-US" sz="1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669578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C:\Users\ANZAR\Desktop\Training Course Templates\PPT 1\COver-02.jp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5738" y="57151"/>
            <a:ext cx="8729662" cy="49089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1066800" y="438150"/>
            <a:ext cx="2924262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b="1" dirty="0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Main Title Goes Here….</a:t>
            </a:r>
          </a:p>
        </p:txBody>
      </p:sp>
      <p:pic>
        <p:nvPicPr>
          <p:cNvPr id="2052" name="Picture 4" descr="C:\Users\ANZAR\Desktop\Training Course Templates\PPT 1\COver-03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" y="133804"/>
            <a:ext cx="8893969" cy="50023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/>
          <p:cNvSpPr txBox="1"/>
          <p:nvPr/>
        </p:nvSpPr>
        <p:spPr>
          <a:xfrm>
            <a:off x="6705600" y="4564792"/>
            <a:ext cx="144571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</a:rPr>
              <a:t>www.umt.edu.pk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CDC753E-5005-0D85-37A1-0EAC472A0BA6}"/>
              </a:ext>
            </a:extLst>
          </p:cNvPr>
          <p:cNvSpPr txBox="1"/>
          <p:nvPr/>
        </p:nvSpPr>
        <p:spPr>
          <a:xfrm>
            <a:off x="914400" y="1136878"/>
            <a:ext cx="670560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Logistics and the bottom line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Logistics and shareholder value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Logistics cost analysis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concept of total cost analysis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Principles of logistics costing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Customer profitability analysis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Direct product profitability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Cost drivers and activity-based costing 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41651027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8196C4-F237-B53B-2A3D-A708CB2B5E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Logistics and the bottom line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BF36FE1-CB24-CCA1-3B2D-47FCFA893F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093660"/>
            <a:ext cx="2286000" cy="77694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3F036CDF-8B09-C4DD-8C10-0DDCAB1230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76749" y="1200150"/>
            <a:ext cx="4397441" cy="33528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1A86C08-045C-47AC-B545-2C599A93611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9599" y="2007523"/>
            <a:ext cx="3947151" cy="27740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88052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8F33B1-22E4-E894-3610-4F66AE1897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" y="205979"/>
            <a:ext cx="9144000" cy="857250"/>
          </a:xfrm>
        </p:spPr>
        <p:txBody>
          <a:bodyPr>
            <a:normAutofit/>
          </a:bodyPr>
          <a:lstStyle/>
          <a:p>
            <a:r>
              <a:rPr lang="en-US" dirty="0"/>
              <a:t>Logistics and shareholder value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1274023-367B-8615-104F-F52995000F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800" y="1077849"/>
            <a:ext cx="3829050" cy="267652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9C2F3B7-8B7D-5B53-170B-AD98136D81B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19600" y="1276350"/>
            <a:ext cx="1933575" cy="1828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13883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3516BE-7509-4DFF-879F-837449C4CF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361950"/>
            <a:ext cx="8229600" cy="4232673"/>
          </a:xfrm>
        </p:spPr>
        <p:txBody>
          <a:bodyPr>
            <a:normAutofit/>
          </a:bodyPr>
          <a:lstStyle/>
          <a:p>
            <a:pPr algn="l"/>
            <a:r>
              <a:rPr lang="en-US" sz="1800" b="0" i="0" u="none" strike="noStrike" baseline="0" dirty="0">
                <a:solidFill>
                  <a:srgbClr val="000000"/>
                </a:solidFill>
                <a:latin typeface="HelveticaNeueLTW1G-Lt"/>
              </a:rPr>
              <a:t>These </a:t>
            </a:r>
            <a:r>
              <a:rPr lang="en-US" sz="1800" b="1" i="1" u="sng" strike="noStrike" baseline="0" dirty="0">
                <a:solidFill>
                  <a:srgbClr val="000000"/>
                </a:solidFill>
                <a:latin typeface="HelveticaNeueLTW1G-Lt"/>
              </a:rPr>
              <a:t>cash flows </a:t>
            </a:r>
            <a:r>
              <a:rPr lang="en-US" sz="1800" b="0" i="0" u="none" strike="noStrike" baseline="0" dirty="0">
                <a:solidFill>
                  <a:srgbClr val="000000"/>
                </a:solidFill>
                <a:latin typeface="HelveticaNeueLTW1G-Lt"/>
              </a:rPr>
              <a:t>may themselves be defined as:</a:t>
            </a:r>
          </a:p>
          <a:p>
            <a:pPr marL="0" indent="0" algn="ctr">
              <a:buNone/>
            </a:pPr>
            <a:r>
              <a:rPr lang="en-US" sz="1800" i="1" dirty="0">
                <a:solidFill>
                  <a:srgbClr val="000000"/>
                </a:solidFill>
                <a:latin typeface="HelveticaNeueLTW1G-Lt"/>
              </a:rPr>
              <a:t>Net operating income </a:t>
            </a:r>
            <a:r>
              <a:rPr lang="en-US" sz="1800" dirty="0">
                <a:solidFill>
                  <a:srgbClr val="000000"/>
                </a:solidFill>
                <a:latin typeface="HelveticaNeueLTW1G-Lt"/>
              </a:rPr>
              <a:t>less Taxes less Working capital investment less</a:t>
            </a:r>
          </a:p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  <a:latin typeface="HelveticaNeueLTW1G-Lt"/>
              </a:rPr>
              <a:t>Fixed capital investment = After-tax free cash flow</a:t>
            </a:r>
          </a:p>
          <a:p>
            <a:pPr marL="0" indent="0" algn="ctr">
              <a:buNone/>
            </a:pPr>
            <a:endParaRPr lang="en-US" sz="1800" dirty="0">
              <a:solidFill>
                <a:srgbClr val="000000"/>
              </a:solidFill>
              <a:latin typeface="HelveticaNeueLTW1G-Lt"/>
            </a:endParaRPr>
          </a:p>
          <a:p>
            <a:pPr marL="0" indent="0" algn="ctr">
              <a:buNone/>
            </a:pPr>
            <a:r>
              <a:rPr lang="en-US" sz="1800" b="1" i="1" u="sng" dirty="0">
                <a:solidFill>
                  <a:srgbClr val="000000"/>
                </a:solidFill>
                <a:latin typeface="HelveticaNeueLTW1G-Lt"/>
              </a:rPr>
              <a:t>Economic value added (EVA)</a:t>
            </a:r>
          </a:p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  <a:latin typeface="HelveticaNeueLTW1G-Lt"/>
              </a:rPr>
              <a:t>= Profit after tax − True cost of capital employed</a:t>
            </a:r>
          </a:p>
          <a:p>
            <a:pPr algn="l"/>
            <a:r>
              <a:rPr lang="en-US" sz="1800" b="0" i="0" u="none" strike="noStrike" baseline="0" dirty="0">
                <a:solidFill>
                  <a:srgbClr val="000000"/>
                </a:solidFill>
                <a:latin typeface="HelveticaNeueLTW1G-Lt"/>
              </a:rPr>
              <a:t>A simple definition of MVA is:</a:t>
            </a:r>
          </a:p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  <a:latin typeface="HelveticaNeueLTW1G-Lt"/>
              </a:rPr>
              <a:t>Stock price × Issued shares less Book value of total capital invested =</a:t>
            </a:r>
          </a:p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  <a:latin typeface="HelveticaNeueLTW1G-Lt"/>
              </a:rPr>
              <a:t>Market value added </a:t>
            </a:r>
          </a:p>
          <a:p>
            <a:pPr algn="l"/>
            <a:r>
              <a:rPr lang="en-US" sz="1800" b="0" i="0" u="none" strike="noStrike" baseline="0" dirty="0">
                <a:solidFill>
                  <a:srgbClr val="000000"/>
                </a:solidFill>
                <a:latin typeface="HelveticaNeueLTW1G-Lt"/>
              </a:rPr>
              <a:t>And, as we have already noted:</a:t>
            </a:r>
          </a:p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  <a:latin typeface="HelveticaNeueLTW1G-Lt"/>
              </a:rPr>
              <a:t>MVA = Net present value of expected future EVA</a:t>
            </a:r>
          </a:p>
        </p:txBody>
      </p:sp>
    </p:spTree>
    <p:extLst>
      <p:ext uri="{BB962C8B-B14F-4D97-AF65-F5344CB8AC3E}">
        <p14:creationId xmlns:p14="http://schemas.microsoft.com/office/powerpoint/2010/main" val="31743767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BDE6C1-2535-4A19-BD4E-EB63D799DE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3350"/>
            <a:ext cx="8229600" cy="4461273"/>
          </a:xfrm>
        </p:spPr>
        <p:txBody>
          <a:bodyPr/>
          <a:lstStyle/>
          <a:p>
            <a:pPr marL="0" indent="0">
              <a:buNone/>
            </a:pPr>
            <a:r>
              <a:rPr lang="en-US" sz="1800" b="1" i="1" u="sng" dirty="0">
                <a:solidFill>
                  <a:srgbClr val="000000"/>
                </a:solidFill>
                <a:latin typeface="HelveticaNeueLTW1G-Lt"/>
              </a:rPr>
              <a:t>The drivers of shareholder value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4E8E1F4-A8DD-477C-BD96-AC8C19325C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742950"/>
            <a:ext cx="6777318" cy="41551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913510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75C94166-1964-4CD4-84D7-6169A1B7E6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3350"/>
            <a:ext cx="8518157" cy="3638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634347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D57E4F-E642-4E35-B3C1-A2919C5FAB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spcBef>
                <a:spcPct val="20000"/>
              </a:spcBef>
            </a:pPr>
            <a:r>
              <a:rPr lang="en-US" sz="1800" b="1" i="1" u="sng" dirty="0">
                <a:solidFill>
                  <a:srgbClr val="000000"/>
                </a:solidFill>
                <a:latin typeface="HelveticaNeueLTW1G-Lt"/>
                <a:ea typeface="+mn-ea"/>
                <a:cs typeface="+mn-cs"/>
              </a:rPr>
              <a:t>The role of cash flow in creating shareholder value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75D78C-3ACE-4832-BDB9-56417226E7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033577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159</TotalTime>
  <Words>156</Words>
  <Application>Microsoft Office PowerPoint</Application>
  <PresentationFormat>On-screen Show (16:9)</PresentationFormat>
  <Paragraphs>26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HelveticaNeueLTW1G-Lt</vt:lpstr>
      <vt:lpstr>Office Theme</vt:lpstr>
      <vt:lpstr>PowerPoint Presentation</vt:lpstr>
      <vt:lpstr>PowerPoint Presentation</vt:lpstr>
      <vt:lpstr>Logistics and the bottom line</vt:lpstr>
      <vt:lpstr>Logistics and shareholder value</vt:lpstr>
      <vt:lpstr>PowerPoint Presentation</vt:lpstr>
      <vt:lpstr>PowerPoint Presentation</vt:lpstr>
      <vt:lpstr>PowerPoint Presentation</vt:lpstr>
      <vt:lpstr>The role of cash flow in creating shareholder value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ANZAR</dc:creator>
  <cp:lastModifiedBy>Syed Rehan Ashraf</cp:lastModifiedBy>
  <cp:revision>11</cp:revision>
  <dcterms:created xsi:type="dcterms:W3CDTF">2020-07-28T21:31:04Z</dcterms:created>
  <dcterms:modified xsi:type="dcterms:W3CDTF">2025-11-04T07:35:31Z</dcterms:modified>
</cp:coreProperties>
</file>