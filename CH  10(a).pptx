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Rehan" userId="cdb5a83e171f1232" providerId="LiveId" clId="{88EE759A-E161-467D-8629-51778B2E5AAE}"/>
    <pc:docChg chg="delSld">
      <pc:chgData name="Syed Rehan" userId="cdb5a83e171f1232" providerId="LiveId" clId="{88EE759A-E161-467D-8629-51778B2E5AAE}" dt="2026-01-07T18:20:39.301" v="0" actId="47"/>
      <pc:docMkLst>
        <pc:docMk/>
      </pc:docMkLst>
      <pc:sldChg chg="del">
        <pc:chgData name="Syed Rehan" userId="cdb5a83e171f1232" providerId="LiveId" clId="{88EE759A-E161-467D-8629-51778B2E5AAE}" dt="2026-01-07T18:20:39.301" v="0" actId="47"/>
        <pc:sldMkLst>
          <pc:docMk/>
          <pc:sldMk cId="3838805200" sldId="258"/>
        </pc:sldMkLst>
      </pc:sldChg>
      <pc:sldChg chg="del">
        <pc:chgData name="Syed Rehan" userId="cdb5a83e171f1232" providerId="LiveId" clId="{88EE759A-E161-467D-8629-51778B2E5AAE}" dt="2026-01-07T18:20:39.301" v="0" actId="47"/>
        <pc:sldMkLst>
          <pc:docMk/>
          <pc:sldMk cId="3551388396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05000" y="1371421"/>
            <a:ext cx="531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Managing risk in the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03" y="104360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6ABC2C-64D4-44AA-8F77-7A337C2E0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472635"/>
              </p:ext>
            </p:extLst>
          </p:nvPr>
        </p:nvGraphicFramePr>
        <p:xfrm>
          <a:off x="457200" y="1434147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67189373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740532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Chapter 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 Alignment (C4)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546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Why are supply chains more vulnerable?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Analyze sources and drivers of supply chain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0355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Understanding the supply chain risk profile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Examine and assess risk exposure across supply chain stages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75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Managing supply chain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Analyze mitigation strategies and trade-offs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915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Achieving supply chain resilience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Evaluate resilience strategies with sustainability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56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6DB5-5871-41F1-9ABC-4E29B0DD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667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Supply Chain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EFCA-4151-47AC-B908-D427AD972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66750"/>
            <a:ext cx="8839200" cy="4476750"/>
          </a:xfrm>
        </p:spPr>
        <p:txBody>
          <a:bodyPr>
            <a:noAutofit/>
          </a:bodyPr>
          <a:lstStyle/>
          <a:p>
            <a:r>
              <a:rPr lang="en-US" sz="1400" b="1" dirty="0"/>
              <a:t>Market Turbulence and Uncertainty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Demand volatility higher than in the past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Difficulty in forecasting life-cycle demand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Frequent competitive product launches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Rapid technological changes</a:t>
            </a:r>
          </a:p>
          <a:p>
            <a:r>
              <a:rPr lang="en-US" sz="1400" b="1" dirty="0"/>
              <a:t>Sources of Supply Chain Chaos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Sales promotions and discount campaigns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Quarterly sales incentives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Reorder quantity rules and batch ordering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Information distortion across the chain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Rising Supply Chain Vulnerability</a:t>
            </a:r>
          </a:p>
          <a:p>
            <a:pPr marL="0" indent="0">
              <a:buNone/>
            </a:pPr>
            <a:r>
              <a:rPr lang="en-US" sz="1400" dirty="0"/>
              <a:t>Supply chains are increasingly exposed due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Natural disasters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Strikes and labor disputes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Terrorist attacks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Epidemics and pandemics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Sudden changes in business strategy</a:t>
            </a:r>
          </a:p>
        </p:txBody>
      </p:sp>
    </p:spTree>
    <p:extLst>
      <p:ext uri="{BB962C8B-B14F-4D97-AF65-F5344CB8AC3E}">
        <p14:creationId xmlns:p14="http://schemas.microsoft.com/office/powerpoint/2010/main" val="393711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794D-4BD1-4D36-AE68-4CA8F0229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550"/>
            <a:ext cx="8229600" cy="43850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Impact of Business Model Changes</a:t>
            </a:r>
          </a:p>
          <a:p>
            <a:pPr marL="0" indent="0">
              <a:buNone/>
            </a:pPr>
            <a:r>
              <a:rPr lang="en-US" dirty="0"/>
              <a:t>Changes that increase supply chain risk: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Adoption of </a:t>
            </a:r>
            <a:r>
              <a:rPr lang="en-US" b="1" dirty="0"/>
              <a:t>lean and JIT practices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Increased </a:t>
            </a:r>
            <a:r>
              <a:rPr lang="en-US" b="1" dirty="0"/>
              <a:t>outsourcing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Reduction in the </a:t>
            </a:r>
            <a:r>
              <a:rPr lang="en-US" b="1" dirty="0"/>
              <a:t>supplier base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Global sourcing strategies</a:t>
            </a:r>
          </a:p>
          <a:p>
            <a:r>
              <a:rPr lang="en-US" b="1" dirty="0"/>
              <a:t>Financial Impact of Supply Chain Disruptions</a:t>
            </a:r>
          </a:p>
          <a:p>
            <a:pPr lvl="1"/>
            <a:r>
              <a:rPr lang="en-US" dirty="0"/>
              <a:t>Research evidence (North America):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Operating income ↓ </a:t>
            </a:r>
            <a:r>
              <a:rPr lang="en-US" b="1" dirty="0"/>
              <a:t>107%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Return on sales ↓ </a:t>
            </a:r>
            <a:r>
              <a:rPr lang="en-US" b="1" dirty="0"/>
              <a:t>114%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Return on assets ↓ </a:t>
            </a:r>
            <a:r>
              <a:rPr lang="en-US" b="1" dirty="0"/>
              <a:t>93%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02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11C3-8307-4125-B022-A30C06720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103"/>
            <a:ext cx="8229600" cy="5010150"/>
          </a:xfrm>
        </p:spPr>
        <p:txBody>
          <a:bodyPr>
            <a:normAutofit fontScale="47500" lnSpcReduction="20000"/>
          </a:bodyPr>
          <a:lstStyle/>
          <a:p>
            <a:r>
              <a:rPr lang="en-US" sz="2900" b="1" dirty="0"/>
              <a:t>Impact on Shareholder Value (Figure 10.1)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Significant decline in shareholder returns following disruption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Market reacts quickly once disruption becomes public</a:t>
            </a:r>
          </a:p>
          <a:p>
            <a:r>
              <a:rPr lang="en-US" sz="2900" b="1" dirty="0"/>
              <a:t>Managerial Gaps in Risk Management</a:t>
            </a:r>
          </a:p>
          <a:p>
            <a:pPr lvl="1"/>
            <a:r>
              <a:rPr lang="en-US" sz="2900" dirty="0"/>
              <a:t>McKinsey survey (3,000+ executives):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Majority perceive </a:t>
            </a:r>
            <a:r>
              <a:rPr lang="en-US" sz="2900" b="1" dirty="0"/>
              <a:t>growing supply chain risk</a:t>
            </a:r>
            <a:endParaRPr lang="en-US" sz="29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Many firms lack </a:t>
            </a:r>
            <a:r>
              <a:rPr lang="en-US" sz="2900" b="1" dirty="0"/>
              <a:t>formal risk mitigation processes</a:t>
            </a:r>
            <a:endParaRPr lang="en-US" sz="29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Risk assessments focus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/>
              <a:t>Financial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/>
              <a:t>Regulatory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Supply chain risk often </a:t>
            </a:r>
            <a:r>
              <a:rPr lang="en-US" sz="2900" b="1" dirty="0"/>
              <a:t>ignored</a:t>
            </a:r>
          </a:p>
          <a:p>
            <a:r>
              <a:rPr lang="en-US" sz="2900" b="1" dirty="0"/>
              <a:t>Types of Supply Chain Risks</a:t>
            </a:r>
          </a:p>
          <a:p>
            <a:pPr lvl="1"/>
            <a:r>
              <a:rPr lang="en-US" sz="2900" b="1" dirty="0"/>
              <a:t>External Risks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Natural disasters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Wars and terrorism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Epidemics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Government regulations</a:t>
            </a:r>
          </a:p>
          <a:p>
            <a:pPr lvl="1"/>
            <a:r>
              <a:rPr lang="en-US" sz="2900" b="1" dirty="0"/>
              <a:t>Internal Risks (Manageable)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Supply chain design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Sourcing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Inventory policies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/>
              <a:t>Relationship management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D812C-AAD0-4BC0-B875-91575E22B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85950"/>
            <a:ext cx="5437056" cy="266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2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E719E98-04C7-4C60-B3DB-166CBFB56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0500" y="666750"/>
            <a:ext cx="8763000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Supply Chain Vulnerability (</a:t>
            </a:r>
            <a:r>
              <a:rPr kumimoji="0" lang="en-US" altLang="en-US" sz="15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Cranfield University definition):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“An exposure to serious disturbance, arising from risks within the supply chain as well as risks external to the supply chain.”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Supply Chains More Vulnerable?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contributing factors:</a:t>
            </a:r>
          </a:p>
          <a:p>
            <a:pPr lvl="1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efficiency over effectiveness</a:t>
            </a:r>
          </a:p>
          <a:p>
            <a:pPr lvl="1">
              <a:buFont typeface="+mj-lt"/>
              <a:buAutoNum type="arabicPeriod"/>
            </a:pP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Globalisation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supply chains</a:t>
            </a:r>
          </a:p>
          <a:p>
            <a:pPr lvl="1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factories and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centralised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</a:t>
            </a:r>
          </a:p>
          <a:p>
            <a:pPr lvl="1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Outsourcing trends</a:t>
            </a:r>
          </a:p>
          <a:p>
            <a:pPr lvl="1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supplier base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Efficiency vs Effectiveness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emphasis on:</a:t>
            </a:r>
          </a:p>
          <a:p>
            <a:pPr lvl="2" indent="-28575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</a:t>
            </a:r>
          </a:p>
          <a:p>
            <a:pPr lvl="2" indent="-285750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minimization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Widespread adoption of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 and lean systems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dependence on suppliers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AEF8B-F2C4-4F2A-A1D1-8EC5F49A6A8E}"/>
              </a:ext>
            </a:extLst>
          </p:cNvPr>
          <p:cNvSpPr txBox="1"/>
          <p:nvPr/>
        </p:nvSpPr>
        <p:spPr>
          <a:xfrm>
            <a:off x="190500" y="209550"/>
            <a:ext cx="86487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Why are supply chains more vulnerable?</a:t>
            </a:r>
          </a:p>
        </p:txBody>
      </p:sp>
    </p:spTree>
    <p:extLst>
      <p:ext uri="{BB962C8B-B14F-4D97-AF65-F5344CB8AC3E}">
        <p14:creationId xmlns:p14="http://schemas.microsoft.com/office/powerpoint/2010/main" val="412608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B0B2-3567-4560-97E0-06CACEA2B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9550"/>
            <a:ext cx="8229600" cy="4114800"/>
          </a:xfrm>
        </p:spPr>
        <p:txBody>
          <a:bodyPr>
            <a:noAutofit/>
          </a:bodyPr>
          <a:lstStyle/>
          <a:p>
            <a:r>
              <a:rPr lang="en-US" sz="1800" b="1" dirty="0" err="1"/>
              <a:t>Globalisation</a:t>
            </a:r>
            <a:r>
              <a:rPr lang="en-US" sz="1800" b="1" dirty="0"/>
              <a:t> of Supply Chains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Shift from “local for local” to global sourcing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Components and assembly spread across continents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Driven mainly by </a:t>
            </a:r>
            <a:r>
              <a:rPr lang="en-US" sz="1800" b="1" dirty="0"/>
              <a:t>cost reduction</a:t>
            </a:r>
            <a:endParaRPr lang="en-US" sz="1800" dirty="0"/>
          </a:p>
          <a:p>
            <a:r>
              <a:rPr lang="en-US" sz="1800" b="1" dirty="0"/>
              <a:t>Risk Implications: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Longer lead times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Higher buffer inventory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Greater obsolescence risk</a:t>
            </a:r>
          </a:p>
          <a:p>
            <a:r>
              <a:rPr lang="en-US" sz="1800" b="1" dirty="0"/>
              <a:t>Hidden Costs of Global Supply Chains (</a:t>
            </a:r>
            <a:r>
              <a:rPr lang="en-US" sz="1800" dirty="0"/>
              <a:t>Total supply chain cost ≠ purchase cost)</a:t>
            </a:r>
            <a:endParaRPr lang="en-US" sz="1800" b="1" dirty="0"/>
          </a:p>
          <a:p>
            <a:pPr lvl="1"/>
            <a:r>
              <a:rPr lang="en-US" sz="1800" dirty="0"/>
              <a:t>Often ignored costs: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Extended transportation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Supply disruption exposure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Demand mismatch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Environmental impact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7945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9D8-424D-44BB-B293-8F301373B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9550"/>
            <a:ext cx="8229600" cy="4724400"/>
          </a:xfrm>
        </p:spPr>
        <p:txBody>
          <a:bodyPr>
            <a:normAutofit/>
          </a:bodyPr>
          <a:lstStyle/>
          <a:p>
            <a:r>
              <a:rPr lang="en-US" sz="1500" b="1" dirty="0"/>
              <a:t>Focused Factories and </a:t>
            </a:r>
            <a:r>
              <a:rPr lang="en-US" sz="1500" b="1" dirty="0" err="1"/>
              <a:t>Centralisation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Fewer manufacturing sites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Large-scale production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/>
              <a:t>Centralised</a:t>
            </a:r>
            <a:r>
              <a:rPr lang="en-US" sz="1500" dirty="0"/>
              <a:t> distribution </a:t>
            </a:r>
            <a:r>
              <a:rPr lang="en-US" sz="1500" dirty="0" err="1"/>
              <a:t>centres</a:t>
            </a:r>
            <a:endParaRPr lang="en-US" sz="1500" dirty="0"/>
          </a:p>
          <a:p>
            <a:pPr lvl="1"/>
            <a:r>
              <a:rPr lang="en-US" sz="1500" b="1" dirty="0"/>
              <a:t>Benefits: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Economies of scale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Lower unit costs</a:t>
            </a:r>
          </a:p>
          <a:p>
            <a:pPr lvl="1"/>
            <a:r>
              <a:rPr lang="en-US" sz="1500" b="1" dirty="0"/>
              <a:t>Risks: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Loss of flexibility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Increased disruption impact</a:t>
            </a:r>
          </a:p>
          <a:p>
            <a:r>
              <a:rPr lang="en-US" sz="1500" b="1" dirty="0"/>
              <a:t>Reduction of Supplier Base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Shift to fewer suppliers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Single sourcing strategies (Failure of one supplier can halt operations, Like chip disruption)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Benefits:</a:t>
            </a:r>
          </a:p>
          <a:p>
            <a:pPr lvl="2" indent="-285750"/>
            <a:r>
              <a:rPr lang="en-US" sz="1500" dirty="0"/>
              <a:t>Stronger relationships</a:t>
            </a:r>
          </a:p>
          <a:p>
            <a:pPr lvl="2" indent="-285750"/>
            <a:r>
              <a:rPr lang="en-US" sz="1500" dirty="0"/>
              <a:t>Lower transaction costs</a:t>
            </a:r>
          </a:p>
        </p:txBody>
      </p:sp>
    </p:spTree>
    <p:extLst>
      <p:ext uri="{BB962C8B-B14F-4D97-AF65-F5344CB8AC3E}">
        <p14:creationId xmlns:p14="http://schemas.microsoft.com/office/powerpoint/2010/main" val="3976527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516</Words>
  <Application>Microsoft Office PowerPoint</Application>
  <PresentationFormat>On-screen Show (16:9)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Supply Chain Risk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Lenovo</cp:lastModifiedBy>
  <cp:revision>21</cp:revision>
  <dcterms:created xsi:type="dcterms:W3CDTF">2020-07-28T21:31:04Z</dcterms:created>
  <dcterms:modified xsi:type="dcterms:W3CDTF">2026-01-18T10:35:47Z</dcterms:modified>
</cp:coreProperties>
</file>