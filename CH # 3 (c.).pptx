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73" r:id="rId5"/>
    <p:sldId id="274" r:id="rId6"/>
    <p:sldId id="271" r:id="rId7"/>
    <p:sldId id="275" r:id="rId8"/>
    <p:sldId id="276" r:id="rId9"/>
    <p:sldId id="277" r:id="rId10"/>
    <p:sldId id="278" r:id="rId11"/>
    <p:sldId id="279"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p:cViewPr varScale="1">
        <p:scale>
          <a:sx n="87" d="100"/>
          <a:sy n="87" d="100"/>
        </p:scale>
        <p:origin x="70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Rehan Ashraf" userId="bf1b3b78-86b5-4a32-9cac-ca47215dcf69" providerId="ADAL" clId="{A840DFE6-57D7-4328-B224-D1D782BCAA7B}"/>
    <pc:docChg chg="modSld">
      <pc:chgData name="Syed Rehan Ashraf" userId="bf1b3b78-86b5-4a32-9cac-ca47215dcf69" providerId="ADAL" clId="{A840DFE6-57D7-4328-B224-D1D782BCAA7B}" dt="2025-11-19T11:04:48.353" v="1" actId="20577"/>
      <pc:docMkLst>
        <pc:docMk/>
      </pc:docMkLst>
      <pc:sldChg chg="modSp mod">
        <pc:chgData name="Syed Rehan Ashraf" userId="bf1b3b78-86b5-4a32-9cac-ca47215dcf69" providerId="ADAL" clId="{A840DFE6-57D7-4328-B224-D1D782BCAA7B}" dt="2025-11-19T11:04:48.353" v="1" actId="20577"/>
        <pc:sldMkLst>
          <pc:docMk/>
          <pc:sldMk cId="3766957859" sldId="256"/>
        </pc:sldMkLst>
        <pc:spChg chg="mod">
          <ac:chgData name="Syed Rehan Ashraf" userId="bf1b3b78-86b5-4a32-9cac-ca47215dcf69" providerId="ADAL" clId="{A840DFE6-57D7-4328-B224-D1D782BCAA7B}" dt="2025-11-19T11:04:48.353" v="1" actId="20577"/>
          <ac:spMkLst>
            <pc:docMk/>
            <pc:sldMk cId="3766957859" sldId="256"/>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9AA4506-A915-448E-9713-B5DD9F6916BA}"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87336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AA4506-A915-448E-9713-B5DD9F6916BA}"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265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A4506-A915-448E-9713-B5DD9F6916BA}"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1027443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AA4506-A915-448E-9713-B5DD9F6916BA}"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929951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AA4506-A915-448E-9713-B5DD9F6916BA}"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2901918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AA4506-A915-448E-9713-B5DD9F6916BA}"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2199423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AA4506-A915-448E-9713-B5DD9F6916BA}"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478866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AA4506-A915-448E-9713-B5DD9F6916BA}"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4239166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AA4506-A915-448E-9713-B5DD9F6916BA}"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378565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AA4506-A915-448E-9713-B5DD9F6916BA}"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1042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AA4506-A915-448E-9713-B5DD9F6916BA}"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1684980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9AA4506-A915-448E-9713-B5DD9F6916BA}" type="datetimeFigureOut">
              <a:rPr lang="en-US" smtClean="0"/>
              <a:t>11/19/2025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06F2F1A-C623-4ADB-A14D-87DE4DB5B627}" type="slidenum">
              <a:rPr lang="en-US" smtClean="0"/>
              <a:t>‹#›</a:t>
            </a:fld>
            <a:endParaRPr lang="en-US"/>
          </a:p>
        </p:txBody>
      </p:sp>
    </p:spTree>
    <p:extLst>
      <p:ext uri="{BB962C8B-B14F-4D97-AF65-F5344CB8AC3E}">
        <p14:creationId xmlns:p14="http://schemas.microsoft.com/office/powerpoint/2010/main" val="3627798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NZAR\Desktop\Training Course Templates\PPT 1\COv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34" y="104775"/>
            <a:ext cx="8971332" cy="493395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ZAR\Desktop\UMT 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0918" y="2800350"/>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286000" y="1371421"/>
            <a:ext cx="5313732" cy="1754326"/>
          </a:xfrm>
          <a:prstGeom prst="rect">
            <a:avLst/>
          </a:prstGeom>
          <a:noFill/>
        </p:spPr>
        <p:txBody>
          <a:bodyPr wrap="square" rtlCol="0">
            <a:spAutoFit/>
          </a:bodyPr>
          <a:lstStyle/>
          <a:p>
            <a:pPr algn="ctr"/>
            <a:r>
              <a:rPr lang="en-US" sz="3600" b="1" dirty="0">
                <a:solidFill>
                  <a:srgbClr val="FF0000"/>
                </a:solidFill>
              </a:rPr>
              <a:t>Measuring logistics costs and performance (</a:t>
            </a:r>
            <a:r>
              <a:rPr lang="en-US" sz="3600" b="1">
                <a:solidFill>
                  <a:srgbClr val="FF0000"/>
                </a:solidFill>
              </a:rPr>
              <a:t>Part c)</a:t>
            </a:r>
            <a:br>
              <a:rPr lang="en-US" sz="3600" b="1" dirty="0">
                <a:solidFill>
                  <a:srgbClr val="FF0000"/>
                </a:solidFill>
              </a:rPr>
            </a:br>
            <a:r>
              <a:rPr lang="en-US" sz="3600" b="1" dirty="0">
                <a:solidFill>
                  <a:srgbClr val="FF0000"/>
                </a:solidFill>
              </a:rPr>
              <a:t>CH # 3</a:t>
            </a:r>
          </a:p>
        </p:txBody>
      </p:sp>
      <p:sp>
        <p:nvSpPr>
          <p:cNvPr id="6" name="TextBox 5"/>
          <p:cNvSpPr txBox="1"/>
          <p:nvPr/>
        </p:nvSpPr>
        <p:spPr>
          <a:xfrm>
            <a:off x="3581400" y="2488852"/>
            <a:ext cx="2971800" cy="523220"/>
          </a:xfrm>
          <a:prstGeom prst="rect">
            <a:avLst/>
          </a:prstGeom>
          <a:noFill/>
        </p:spPr>
        <p:txBody>
          <a:bodyPr wrap="square" rtlCol="0">
            <a:spAutoFit/>
          </a:bodyPr>
          <a:lstStyle/>
          <a:p>
            <a:pPr algn="ctr"/>
            <a:endParaRPr lang="en-US" sz="1400" dirty="0">
              <a:solidFill>
                <a:schemeClr val="bg1"/>
              </a:solidFill>
            </a:endParaRPr>
          </a:p>
          <a:p>
            <a:pPr algn="ctr"/>
            <a:endParaRPr lang="en-US" sz="1400" dirty="0">
              <a:solidFill>
                <a:schemeClr val="bg1"/>
              </a:solidFill>
            </a:endParaRPr>
          </a:p>
        </p:txBody>
      </p:sp>
    </p:spTree>
    <p:extLst>
      <p:ext uri="{BB962C8B-B14F-4D97-AF65-F5344CB8AC3E}">
        <p14:creationId xmlns:p14="http://schemas.microsoft.com/office/powerpoint/2010/main" val="3766957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NZAR\Desktop\Training Course Templates\PPT 1\COver-0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738" y="57151"/>
            <a:ext cx="8729662" cy="490899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066800" y="438150"/>
            <a:ext cx="2924262" cy="430887"/>
          </a:xfrm>
          <a:prstGeom prst="rect">
            <a:avLst/>
          </a:prstGeom>
          <a:noFill/>
        </p:spPr>
        <p:txBody>
          <a:bodyPr wrap="none" rtlCol="0">
            <a:spAutoFit/>
          </a:bodyPr>
          <a:lstStyle/>
          <a:p>
            <a:r>
              <a:rPr lang="en-US" sz="2200" b="1" dirty="0">
                <a:solidFill>
                  <a:schemeClr val="bg1"/>
                </a:solidFill>
                <a:latin typeface="Calibri" pitchFamily="34" charset="0"/>
                <a:cs typeface="Calibri" pitchFamily="34" charset="0"/>
              </a:rPr>
              <a:t>Main Title Goes Here….</a:t>
            </a:r>
          </a:p>
        </p:txBody>
      </p:sp>
      <p:pic>
        <p:nvPicPr>
          <p:cNvPr id="2052" name="Picture 4" descr="C:\Users\ANZAR\Desktop\Training Course Templates\PPT 1\COver-0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133804"/>
            <a:ext cx="8893969" cy="50023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6705600" y="4564792"/>
            <a:ext cx="1445717" cy="307777"/>
          </a:xfrm>
          <a:prstGeom prst="rect">
            <a:avLst/>
          </a:prstGeom>
          <a:noFill/>
        </p:spPr>
        <p:txBody>
          <a:bodyPr wrap="none" rtlCol="0">
            <a:spAutoFit/>
          </a:bodyPr>
          <a:lstStyle/>
          <a:p>
            <a:r>
              <a:rPr lang="en-US" sz="1400" dirty="0">
                <a:solidFill>
                  <a:schemeClr val="bg1"/>
                </a:solidFill>
              </a:rPr>
              <a:t>www.umt.edu.pk</a:t>
            </a:r>
          </a:p>
        </p:txBody>
      </p:sp>
      <p:sp>
        <p:nvSpPr>
          <p:cNvPr id="5" name="TextBox 4">
            <a:extLst>
              <a:ext uri="{FF2B5EF4-FFF2-40B4-BE49-F238E27FC236}">
                <a16:creationId xmlns:a16="http://schemas.microsoft.com/office/drawing/2014/main" id="{6CDC753E-5005-0D85-37A1-0EAC472A0BA6}"/>
              </a:ext>
            </a:extLst>
          </p:cNvPr>
          <p:cNvSpPr txBox="1"/>
          <p:nvPr/>
        </p:nvSpPr>
        <p:spPr>
          <a:xfrm>
            <a:off x="914400" y="1136878"/>
            <a:ext cx="6705600" cy="2308324"/>
          </a:xfrm>
          <a:prstGeom prst="rect">
            <a:avLst/>
          </a:prstGeom>
          <a:noFill/>
        </p:spPr>
        <p:txBody>
          <a:bodyPr wrap="square">
            <a:spAutoFit/>
          </a:bodyPr>
          <a:lstStyle/>
          <a:p>
            <a:pPr marL="285750" indent="-285750">
              <a:buFont typeface="Arial" panose="020B0604020202020204" pitchFamily="34" charset="0"/>
              <a:buChar char="•"/>
            </a:pPr>
            <a:r>
              <a:rPr lang="en-US" dirty="0"/>
              <a:t>Logistics and the bottom line </a:t>
            </a:r>
          </a:p>
          <a:p>
            <a:pPr marL="285750" indent="-285750">
              <a:buFont typeface="Arial" panose="020B0604020202020204" pitchFamily="34" charset="0"/>
              <a:buChar char="•"/>
            </a:pPr>
            <a:r>
              <a:rPr lang="en-US" dirty="0"/>
              <a:t>Logistics and shareholder value </a:t>
            </a:r>
          </a:p>
          <a:p>
            <a:pPr marL="285750" indent="-285750">
              <a:buFont typeface="Arial" panose="020B0604020202020204" pitchFamily="34" charset="0"/>
              <a:buChar char="•"/>
            </a:pPr>
            <a:r>
              <a:rPr lang="en-US" dirty="0"/>
              <a:t>Logistics cost analysis </a:t>
            </a:r>
          </a:p>
          <a:p>
            <a:pPr marL="285750" indent="-285750">
              <a:buFont typeface="Arial" panose="020B0604020202020204" pitchFamily="34" charset="0"/>
              <a:buChar char="•"/>
            </a:pPr>
            <a:r>
              <a:rPr lang="en-US" dirty="0"/>
              <a:t>The concept of total cost analysis </a:t>
            </a:r>
          </a:p>
          <a:p>
            <a:pPr marL="285750" indent="-285750">
              <a:buFont typeface="Arial" panose="020B0604020202020204" pitchFamily="34" charset="0"/>
              <a:buChar char="•"/>
            </a:pPr>
            <a:r>
              <a:rPr lang="en-US" dirty="0"/>
              <a:t>Principles of logistics costing (Understanding the cost-to-serve)</a:t>
            </a:r>
          </a:p>
          <a:p>
            <a:pPr marL="285750" indent="-285750">
              <a:buFont typeface="Arial" panose="020B0604020202020204" pitchFamily="34" charset="0"/>
              <a:buChar char="•"/>
            </a:pPr>
            <a:r>
              <a:rPr lang="en-US" b="1" dirty="0"/>
              <a:t>Customer profitability analysis </a:t>
            </a:r>
          </a:p>
          <a:p>
            <a:pPr marL="285750" indent="-285750">
              <a:buFont typeface="Arial" panose="020B0604020202020204" pitchFamily="34" charset="0"/>
              <a:buChar char="•"/>
            </a:pPr>
            <a:r>
              <a:rPr lang="en-US" b="1" dirty="0"/>
              <a:t>Direct product profitability </a:t>
            </a:r>
          </a:p>
          <a:p>
            <a:pPr marL="285750" indent="-285750">
              <a:buFont typeface="Arial" panose="020B0604020202020204" pitchFamily="34" charset="0"/>
              <a:buChar char="•"/>
            </a:pPr>
            <a:r>
              <a:rPr lang="en-US" b="1" dirty="0"/>
              <a:t>Cost drivers and activity-based costing </a:t>
            </a:r>
          </a:p>
        </p:txBody>
      </p:sp>
    </p:spTree>
    <p:extLst>
      <p:ext uri="{BB962C8B-B14F-4D97-AF65-F5344CB8AC3E}">
        <p14:creationId xmlns:p14="http://schemas.microsoft.com/office/powerpoint/2010/main" val="4165102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8E41-AB0A-44C1-B94B-50CEA8E83652}"/>
              </a:ext>
            </a:extLst>
          </p:cNvPr>
          <p:cNvSpPr>
            <a:spLocks noGrp="1"/>
          </p:cNvSpPr>
          <p:nvPr>
            <p:ph type="title"/>
          </p:nvPr>
        </p:nvSpPr>
        <p:spPr>
          <a:xfrm>
            <a:off x="457200" y="12131"/>
            <a:ext cx="8229600" cy="857250"/>
          </a:xfrm>
        </p:spPr>
        <p:txBody>
          <a:bodyPr/>
          <a:lstStyle/>
          <a:p>
            <a:r>
              <a:rPr lang="en-US" dirty="0"/>
              <a:t>Customer profitability analysis</a:t>
            </a:r>
          </a:p>
        </p:txBody>
      </p:sp>
      <p:pic>
        <p:nvPicPr>
          <p:cNvPr id="5" name="Picture 4">
            <a:extLst>
              <a:ext uri="{FF2B5EF4-FFF2-40B4-BE49-F238E27FC236}">
                <a16:creationId xmlns:a16="http://schemas.microsoft.com/office/drawing/2014/main" id="{A77C5535-8774-4E52-8CBD-936F0CD76A80}"/>
              </a:ext>
            </a:extLst>
          </p:cNvPr>
          <p:cNvPicPr>
            <a:picLocks noChangeAspect="1"/>
          </p:cNvPicPr>
          <p:nvPr/>
        </p:nvPicPr>
        <p:blipFill>
          <a:blip r:embed="rId2"/>
          <a:stretch>
            <a:fillRect/>
          </a:stretch>
        </p:blipFill>
        <p:spPr>
          <a:xfrm>
            <a:off x="22860" y="869381"/>
            <a:ext cx="4930140" cy="4102430"/>
          </a:xfrm>
          <a:prstGeom prst="rect">
            <a:avLst/>
          </a:prstGeom>
        </p:spPr>
      </p:pic>
      <p:pic>
        <p:nvPicPr>
          <p:cNvPr id="7" name="Picture 6">
            <a:extLst>
              <a:ext uri="{FF2B5EF4-FFF2-40B4-BE49-F238E27FC236}">
                <a16:creationId xmlns:a16="http://schemas.microsoft.com/office/drawing/2014/main" id="{51514FE4-58E2-4B31-9C41-B9C5357BD379}"/>
              </a:ext>
            </a:extLst>
          </p:cNvPr>
          <p:cNvPicPr>
            <a:picLocks noChangeAspect="1"/>
          </p:cNvPicPr>
          <p:nvPr/>
        </p:nvPicPr>
        <p:blipFill rotWithShape="1">
          <a:blip r:embed="rId3"/>
          <a:srcRect l="19000"/>
          <a:stretch/>
        </p:blipFill>
        <p:spPr>
          <a:xfrm>
            <a:off x="4953000" y="906471"/>
            <a:ext cx="4038600" cy="4186798"/>
          </a:xfrm>
          <a:prstGeom prst="rect">
            <a:avLst/>
          </a:prstGeom>
        </p:spPr>
      </p:pic>
    </p:spTree>
    <p:extLst>
      <p:ext uri="{BB962C8B-B14F-4D97-AF65-F5344CB8AC3E}">
        <p14:creationId xmlns:p14="http://schemas.microsoft.com/office/powerpoint/2010/main" val="3814957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B5E0B-19A9-4F58-8D6B-A65C4FAE8773}"/>
              </a:ext>
            </a:extLst>
          </p:cNvPr>
          <p:cNvSpPr>
            <a:spLocks noGrp="1"/>
          </p:cNvSpPr>
          <p:nvPr>
            <p:ph idx="1"/>
          </p:nvPr>
        </p:nvSpPr>
        <p:spPr>
          <a:xfrm>
            <a:off x="190500" y="341113"/>
            <a:ext cx="8763000" cy="4461273"/>
          </a:xfrm>
        </p:spPr>
        <p:txBody>
          <a:bodyPr>
            <a:normAutofit fontScale="92500" lnSpcReduction="10000"/>
          </a:bodyPr>
          <a:lstStyle/>
          <a:p>
            <a:pPr marR="0" lvl="0">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rPr>
              <a:t>Limitation of Conventional Accounting</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Traditional accounting methods cannot accurately answer: </a:t>
            </a:r>
            <a:r>
              <a:rPr lang="en-US" sz="1400" i="1" dirty="0">
                <a:effectLst/>
                <a:latin typeface="Times New Roman" panose="02020603050405020304" pitchFamily="18" charset="0"/>
                <a:ea typeface="Times New Roman" panose="02020603050405020304" pitchFamily="18" charset="0"/>
              </a:rPr>
              <a:t>“How profitable is one customer compared to another?”</a:t>
            </a:r>
            <a:endParaRPr lang="en-US" sz="14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Profitability is usually calculated only at the </a:t>
            </a:r>
            <a:r>
              <a:rPr lang="en-US" sz="1400" b="1" dirty="0">
                <a:effectLst/>
                <a:latin typeface="Times New Roman" panose="02020603050405020304" pitchFamily="18" charset="0"/>
                <a:ea typeface="Times New Roman" panose="02020603050405020304" pitchFamily="18" charset="0"/>
              </a:rPr>
              <a:t>gross profit</a:t>
            </a:r>
            <a:r>
              <a:rPr lang="en-US" sz="1400" dirty="0">
                <a:effectLst/>
                <a:latin typeface="Times New Roman" panose="02020603050405020304" pitchFamily="18" charset="0"/>
                <a:ea typeface="Times New Roman" panose="02020603050405020304" pitchFamily="18" charset="0"/>
              </a:rPr>
              <a:t> level (sales revenue minus cost of goods sold).</a:t>
            </a:r>
          </a:p>
          <a:p>
            <a:pPr marR="0" lvl="0">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rPr>
              <a:t>Gross Profit Is Not Enough</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Many additional costs related to servicing customers are </a:t>
            </a:r>
            <a:r>
              <a:rPr lang="en-US" sz="1400" b="1" dirty="0">
                <a:effectLst/>
                <a:latin typeface="Times New Roman" panose="02020603050405020304" pitchFamily="18" charset="0"/>
                <a:ea typeface="Times New Roman" panose="02020603050405020304" pitchFamily="18" charset="0"/>
              </a:rPr>
              <a:t>not included</a:t>
            </a:r>
            <a:r>
              <a:rPr lang="en-US" sz="1400" dirty="0">
                <a:effectLst/>
                <a:latin typeface="Times New Roman" panose="02020603050405020304" pitchFamily="18" charset="0"/>
                <a:ea typeface="Times New Roman" panose="02020603050405020304" pitchFamily="18" charset="0"/>
              </a:rPr>
              <a:t> in conventional profitability calculations.</a:t>
            </a: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These hidden service costs must be considered to understand true customer profitability.</a:t>
            </a:r>
          </a:p>
          <a:p>
            <a:pPr marR="0" lvl="0">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rPr>
              <a:t>Application to Market Segments and Channels</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The same issue arises when comparing the profitability of market segments or distribution channels.</a:t>
            </a:r>
          </a:p>
          <a:p>
            <a:pPr marR="0" lvl="0">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rPr>
              <a:t>Importance for Logistics Strategy</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The costs involved in serving customers significantly influence how </a:t>
            </a:r>
            <a:r>
              <a:rPr lang="en-US" sz="1400" b="1" dirty="0">
                <a:effectLst/>
                <a:latin typeface="Times New Roman" panose="02020603050405020304" pitchFamily="18" charset="0"/>
                <a:ea typeface="Times New Roman" panose="02020603050405020304" pitchFamily="18" charset="0"/>
              </a:rPr>
              <a:t>logistics strategies</a:t>
            </a:r>
            <a:r>
              <a:rPr lang="en-US" sz="1400" dirty="0">
                <a:effectLst/>
                <a:latin typeface="Times New Roman" panose="02020603050405020304" pitchFamily="18" charset="0"/>
                <a:ea typeface="Times New Roman" panose="02020603050405020304" pitchFamily="18" charset="0"/>
              </a:rPr>
              <a:t> should be designed.</a:t>
            </a: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Inefficient logistics may increase the cost-to-serve for certain customers.</a:t>
            </a:r>
          </a:p>
          <a:p>
            <a:pPr marL="1085850" lvl="1" algn="just"/>
            <a:r>
              <a:rPr lang="en-US" sz="1400" dirty="0">
                <a:effectLst/>
                <a:latin typeface="Times New Roman" panose="02020603050405020304" pitchFamily="18" charset="0"/>
                <a:ea typeface="Times New Roman" panose="02020603050405020304" pitchFamily="18" charset="0"/>
              </a:rPr>
              <a:t>(Details in Separate case study file) </a:t>
            </a:r>
          </a:p>
          <a:p>
            <a:pPr marR="0" lvl="0">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rPr>
              <a:t>Negative Contribution Customers (Figure 3.10)</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Customer profitability analysis often shows that </a:t>
            </a:r>
            <a:r>
              <a:rPr lang="en-US" sz="1400" b="1" dirty="0">
                <a:effectLst/>
                <a:latin typeface="Times New Roman" panose="02020603050405020304" pitchFamily="18" charset="0"/>
                <a:ea typeface="Times New Roman" panose="02020603050405020304" pitchFamily="18" charset="0"/>
              </a:rPr>
              <a:t>some customers make a negative contribution</a:t>
            </a:r>
            <a:r>
              <a:rPr lang="en-US" sz="1400" dirty="0">
                <a:effectLst/>
                <a:latin typeface="Times New Roman" panose="02020603050405020304" pitchFamily="18" charset="0"/>
                <a:ea typeface="Times New Roman" panose="02020603050405020304" pitchFamily="18" charset="0"/>
              </a:rPr>
              <a:t> to overall profit.</a:t>
            </a:r>
          </a:p>
          <a:p>
            <a:pPr lvl="1" indent="-342900" algn="just">
              <a:buFont typeface="Symbol" panose="05050102010706020507" pitchFamily="18" charset="2"/>
              <a:buChar char=""/>
            </a:pPr>
            <a:r>
              <a:rPr lang="en-US" sz="1400" b="1" dirty="0">
                <a:effectLst/>
                <a:latin typeface="Times New Roman" panose="02020603050405020304" pitchFamily="18" charset="0"/>
                <a:ea typeface="Times New Roman" panose="02020603050405020304" pitchFamily="18" charset="0"/>
              </a:rPr>
              <a:t>Figure 3.10</a:t>
            </a:r>
            <a:r>
              <a:rPr lang="en-US" sz="1400" dirty="0">
                <a:effectLst/>
                <a:latin typeface="Times New Roman" panose="02020603050405020304" pitchFamily="18" charset="0"/>
                <a:ea typeface="Times New Roman" panose="02020603050405020304" pitchFamily="18" charset="0"/>
              </a:rPr>
              <a:t> illustrates this pattern, showing the distribution of profitable and unprofitable customers.</a:t>
            </a:r>
          </a:p>
          <a:p>
            <a:pPr>
              <a:buFont typeface="+mj-lt"/>
              <a:buAutoNum type="arabicPeriod"/>
              <a:tabLst>
                <a:tab pos="457200" algn="l"/>
              </a:tabLst>
            </a:pPr>
            <a:r>
              <a:rPr lang="en-US" sz="1800" b="1" dirty="0">
                <a:latin typeface="Times New Roman" panose="02020603050405020304" pitchFamily="18" charset="0"/>
              </a:rPr>
              <a:t>Reason for Negative Contribution</a:t>
            </a: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The main reason is the </a:t>
            </a:r>
            <a:r>
              <a:rPr lang="en-US" sz="1400" b="1" dirty="0">
                <a:effectLst/>
                <a:latin typeface="Times New Roman" panose="02020603050405020304" pitchFamily="18" charset="0"/>
                <a:ea typeface="Times New Roman" panose="02020603050405020304" pitchFamily="18" charset="0"/>
              </a:rPr>
              <a:t>variation in cost-to-serve</a:t>
            </a:r>
            <a:r>
              <a:rPr lang="en-US" sz="1400" dirty="0">
                <a:effectLst/>
                <a:latin typeface="Times New Roman" panose="02020603050405020304" pitchFamily="18" charset="0"/>
                <a:ea typeface="Times New Roman" panose="02020603050405020304" pitchFamily="18" charset="0"/>
              </a:rPr>
              <a:t>, even between customers purchasing similar quantities.</a:t>
            </a: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Some customers require more service effort, resources, or special handling, increasing costs.</a:t>
            </a:r>
          </a:p>
          <a:p>
            <a:pPr lvl="1" indent="-342900" algn="just">
              <a:buFont typeface="Symbol" panose="05050102010706020507" pitchFamily="18" charset="2"/>
              <a:buChar char=""/>
            </a:pPr>
            <a:endParaRPr lang="en-US" sz="1400" dirty="0">
              <a:effectLst/>
              <a:latin typeface="Times New Roman" panose="02020603050405020304" pitchFamily="18"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687026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8C2DDE-F5F8-464F-9484-22FF1B82AE3B}"/>
              </a:ext>
            </a:extLst>
          </p:cNvPr>
          <p:cNvSpPr>
            <a:spLocks noGrp="1"/>
          </p:cNvSpPr>
          <p:nvPr>
            <p:ph idx="1"/>
          </p:nvPr>
        </p:nvSpPr>
        <p:spPr>
          <a:xfrm>
            <a:off x="457200" y="341113"/>
            <a:ext cx="8229600" cy="4461273"/>
          </a:xfrm>
        </p:spPr>
        <p:txBody>
          <a:bodyPr>
            <a:normAutofit lnSpcReduction="10000"/>
          </a:bodyPr>
          <a:lstStyle/>
          <a:p>
            <a:pPr marL="342900" marR="0" lvl="0" indent="-342900">
              <a:buFont typeface="+mj-lt"/>
              <a:buAutoNum type="arabicPeriod" startAt="7"/>
              <a:tabLst>
                <a:tab pos="457200" algn="l"/>
              </a:tabLst>
            </a:pPr>
            <a:r>
              <a:rPr lang="en-US" sz="1800" b="1" dirty="0">
                <a:effectLst/>
                <a:latin typeface="Times New Roman" panose="02020603050405020304" pitchFamily="18" charset="0"/>
                <a:ea typeface="Times New Roman" panose="02020603050405020304" pitchFamily="18" charset="0"/>
              </a:rPr>
              <a:t>Order-to-Cash Costs Vary Widely</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From capturing an order to collecting payment, the </a:t>
            </a:r>
            <a:r>
              <a:rPr lang="en-US" sz="1400" b="1" dirty="0">
                <a:effectLst/>
                <a:latin typeface="Times New Roman" panose="02020603050405020304" pitchFamily="18" charset="0"/>
                <a:ea typeface="Times New Roman" panose="02020603050405020304" pitchFamily="18" charset="0"/>
              </a:rPr>
              <a:t>total servicing cost</a:t>
            </a:r>
            <a:r>
              <a:rPr lang="en-US" sz="1400" dirty="0">
                <a:effectLst/>
                <a:latin typeface="Times New Roman" panose="02020603050405020304" pitchFamily="18" charset="0"/>
                <a:ea typeface="Times New Roman" panose="02020603050405020304" pitchFamily="18" charset="0"/>
              </a:rPr>
              <a:t> can be very high.</a:t>
            </a: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This total cost varies significantly </a:t>
            </a:r>
            <a:r>
              <a:rPr lang="en-US" sz="1400" b="1" dirty="0">
                <a:effectLst/>
                <a:latin typeface="Times New Roman" panose="02020603050405020304" pitchFamily="18" charset="0"/>
                <a:ea typeface="Times New Roman" panose="02020603050405020304" pitchFamily="18" charset="0"/>
              </a:rPr>
              <a:t>from customer to customer</a:t>
            </a:r>
            <a:r>
              <a:rPr lang="en-US" sz="1400" dirty="0">
                <a:effectLst/>
                <a:latin typeface="Times New Roman" panose="02020603050405020304" pitchFamily="18" charset="0"/>
                <a:ea typeface="Times New Roman" panose="02020603050405020304" pitchFamily="18" charset="0"/>
              </a:rPr>
              <a:t>.</a:t>
            </a:r>
          </a:p>
          <a:p>
            <a:pPr marL="342900" marR="0" lvl="0" indent="-342900">
              <a:buFont typeface="+mj-lt"/>
              <a:buAutoNum type="arabicPeriod" startAt="7"/>
              <a:tabLst>
                <a:tab pos="457200" algn="l"/>
              </a:tabLst>
            </a:pPr>
            <a:r>
              <a:rPr lang="en-US" sz="1800" b="1" dirty="0">
                <a:effectLst/>
                <a:latin typeface="Times New Roman" panose="02020603050405020304" pitchFamily="18" charset="0"/>
                <a:ea typeface="Times New Roman" panose="02020603050405020304" pitchFamily="18" charset="0"/>
              </a:rPr>
              <a:t>Impact of Product Mix</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Different customers buy different </a:t>
            </a:r>
            <a:r>
              <a:rPr lang="en-US" sz="1400" b="1" dirty="0">
                <a:effectLst/>
                <a:latin typeface="Times New Roman" panose="02020603050405020304" pitchFamily="18" charset="0"/>
                <a:ea typeface="Times New Roman" panose="02020603050405020304" pitchFamily="18" charset="0"/>
              </a:rPr>
              <a:t>product mixes</a:t>
            </a:r>
            <a:r>
              <a:rPr lang="en-US" sz="1400" dirty="0">
                <a:effectLst/>
                <a:latin typeface="Times New Roman" panose="02020603050405020304" pitchFamily="18" charset="0"/>
                <a:ea typeface="Times New Roman" panose="02020603050405020304" pitchFamily="18" charset="0"/>
              </a:rPr>
              <a:t>, leading to different gross margins.</a:t>
            </a:r>
          </a:p>
          <a:p>
            <a:pPr marL="342900" marR="0" lvl="0" indent="-342900">
              <a:buFont typeface="+mj-lt"/>
              <a:buAutoNum type="arabicPeriod" startAt="7"/>
              <a:tabLst>
                <a:tab pos="457200" algn="l"/>
              </a:tabLst>
            </a:pPr>
            <a:r>
              <a:rPr lang="en-US" sz="1800" b="1" dirty="0">
                <a:effectLst/>
                <a:latin typeface="Times New Roman" panose="02020603050405020304" pitchFamily="18" charset="0"/>
                <a:ea typeface="Times New Roman" panose="02020603050405020304" pitchFamily="18" charset="0"/>
              </a:rPr>
              <a:t>Multiple Cost Elements (Table 3.1)</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b="1" dirty="0">
                <a:effectLst/>
                <a:latin typeface="Times New Roman" panose="02020603050405020304" pitchFamily="18" charset="0"/>
                <a:ea typeface="Times New Roman" panose="02020603050405020304" pitchFamily="18" charset="0"/>
              </a:rPr>
              <a:t>Table 3.1</a:t>
            </a:r>
            <a:r>
              <a:rPr lang="en-US" sz="1400" dirty="0">
                <a:effectLst/>
                <a:latin typeface="Times New Roman" panose="02020603050405020304" pitchFamily="18" charset="0"/>
                <a:ea typeface="Times New Roman" panose="02020603050405020304" pitchFamily="18" charset="0"/>
              </a:rPr>
              <a:t> lists the many cost components that must be identified to measure customer profitability accurately.</a:t>
            </a: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These include logistics, order handling, delivery, customer service, and other supporting activities.</a:t>
            </a:r>
          </a:p>
          <a:p>
            <a:pPr marL="342900" marR="0" lvl="0" indent="-342900">
              <a:buFont typeface="+mj-lt"/>
              <a:buAutoNum type="arabicPeriod" startAt="7"/>
              <a:tabLst>
                <a:tab pos="457200" algn="l"/>
              </a:tabLst>
            </a:pPr>
            <a:r>
              <a:rPr lang="en-US" sz="1800" b="1" dirty="0">
                <a:effectLst/>
                <a:latin typeface="Times New Roman" panose="02020603050405020304" pitchFamily="18" charset="0"/>
                <a:ea typeface="Times New Roman" panose="02020603050405020304" pitchFamily="18" charset="0"/>
              </a:rPr>
              <a:t>Best Measure of Customer Profitability</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The most accurate way to evaluate a customer’s profitability is to ask:</a:t>
            </a:r>
            <a:br>
              <a:rPr lang="en-US" sz="1400" dirty="0">
                <a:effectLst/>
                <a:latin typeface="Times New Roman" panose="02020603050405020304" pitchFamily="18" charset="0"/>
                <a:ea typeface="Times New Roman" panose="02020603050405020304" pitchFamily="18" charset="0"/>
              </a:rPr>
            </a:br>
            <a:r>
              <a:rPr lang="en-US" sz="1400" b="1" dirty="0">
                <a:effectLst/>
                <a:latin typeface="Times New Roman" panose="02020603050405020304" pitchFamily="18" charset="0"/>
                <a:ea typeface="Times New Roman" panose="02020603050405020304" pitchFamily="18" charset="0"/>
              </a:rPr>
              <a:t>“What costs would I avoid, and what revenue would I lose, if I no longer served this customer?”</a:t>
            </a:r>
            <a:endParaRPr lang="en-US" sz="14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This concept focuses on </a:t>
            </a:r>
            <a:r>
              <a:rPr lang="en-US" sz="1400" b="1" dirty="0">
                <a:effectLst/>
                <a:latin typeface="Times New Roman" panose="02020603050405020304" pitchFamily="18" charset="0"/>
                <a:ea typeface="Times New Roman" panose="02020603050405020304" pitchFamily="18" charset="0"/>
              </a:rPr>
              <a:t>avoidable costs</a:t>
            </a:r>
            <a:r>
              <a:rPr lang="en-US" sz="1400" dirty="0">
                <a:effectLst/>
                <a:latin typeface="Times New Roman" panose="02020603050405020304" pitchFamily="18" charset="0"/>
                <a:ea typeface="Times New Roman" panose="02020603050405020304" pitchFamily="18" charset="0"/>
              </a:rPr>
              <a:t> and </a:t>
            </a:r>
            <a:r>
              <a:rPr lang="en-US" sz="1400" b="1" dirty="0">
                <a:effectLst/>
                <a:latin typeface="Times New Roman" panose="02020603050405020304" pitchFamily="18" charset="0"/>
                <a:ea typeface="Times New Roman" panose="02020603050405020304" pitchFamily="18" charset="0"/>
              </a:rPr>
              <a:t>incremental revenue</a:t>
            </a:r>
            <a:r>
              <a:rPr lang="en-US" sz="1400" dirty="0">
                <a:effectLst/>
                <a:latin typeface="Times New Roman" panose="02020603050405020304" pitchFamily="18" charset="0"/>
                <a:ea typeface="Times New Roman" panose="02020603050405020304" pitchFamily="18" charset="0"/>
              </a:rPr>
              <a:t>, which gives a realistic profitability picture.</a:t>
            </a:r>
          </a:p>
          <a:p>
            <a:pPr marL="342900" marR="0" lvl="0" indent="-342900">
              <a:buFont typeface="+mj-lt"/>
              <a:buAutoNum type="arabicPeriod" startAt="7"/>
              <a:tabLst>
                <a:tab pos="457200" algn="l"/>
              </a:tabLst>
            </a:pPr>
            <a:r>
              <a:rPr lang="en-US" sz="1800" b="1" dirty="0">
                <a:effectLst/>
                <a:latin typeface="Times New Roman" panose="02020603050405020304" pitchFamily="18" charset="0"/>
                <a:ea typeface="Times New Roman" panose="02020603050405020304" pitchFamily="18" charset="0"/>
              </a:rPr>
              <a:t>Avoiding Fixed-Cost Allocation Problems</a:t>
            </a:r>
            <a:endParaRPr lang="en-US" sz="1800" dirty="0">
              <a:effectLst/>
              <a:latin typeface="Times New Roman" panose="02020603050405020304" pitchFamily="18" charset="0"/>
              <a:ea typeface="Times New Roman" panose="02020603050405020304" pitchFamily="18" charset="0"/>
            </a:endParaRPr>
          </a:p>
          <a:p>
            <a:pPr lvl="1" indent="-342900" algn="just">
              <a:buFont typeface="Symbol" panose="05050102010706020507" pitchFamily="18" charset="2"/>
              <a:buChar char=""/>
            </a:pPr>
            <a:r>
              <a:rPr lang="en-US" sz="1400" dirty="0">
                <a:effectLst/>
                <a:latin typeface="Times New Roman" panose="02020603050405020304" pitchFamily="18" charset="0"/>
                <a:ea typeface="Times New Roman" panose="02020603050405020304" pitchFamily="18" charset="0"/>
              </a:rPr>
              <a:t>This method helps avoid errors caused by allocating </a:t>
            </a:r>
            <a:r>
              <a:rPr lang="en-US" sz="1400" b="1" dirty="0">
                <a:effectLst/>
                <a:latin typeface="Times New Roman" panose="02020603050405020304" pitchFamily="18" charset="0"/>
                <a:ea typeface="Times New Roman" panose="02020603050405020304" pitchFamily="18" charset="0"/>
              </a:rPr>
              <a:t>fixed costs</a:t>
            </a:r>
            <a:r>
              <a:rPr lang="en-US" sz="1400" dirty="0">
                <a:effectLst/>
                <a:latin typeface="Times New Roman" panose="02020603050405020304" pitchFamily="18" charset="0"/>
                <a:ea typeface="Times New Roman" panose="02020603050405020304" pitchFamily="18" charset="0"/>
              </a:rPr>
              <a:t> to individual customers, which often distorts profitability results.</a:t>
            </a:r>
          </a:p>
          <a:p>
            <a:endParaRPr lang="en-US" dirty="0"/>
          </a:p>
        </p:txBody>
      </p:sp>
    </p:spTree>
    <p:extLst>
      <p:ext uri="{BB962C8B-B14F-4D97-AF65-F5344CB8AC3E}">
        <p14:creationId xmlns:p14="http://schemas.microsoft.com/office/powerpoint/2010/main" val="1789757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034208-6A87-4B62-A18E-B2680640A323}"/>
              </a:ext>
            </a:extLst>
          </p:cNvPr>
          <p:cNvPicPr>
            <a:picLocks noChangeAspect="1"/>
          </p:cNvPicPr>
          <p:nvPr/>
        </p:nvPicPr>
        <p:blipFill>
          <a:blip r:embed="rId2"/>
          <a:stretch>
            <a:fillRect/>
          </a:stretch>
        </p:blipFill>
        <p:spPr>
          <a:xfrm>
            <a:off x="685800" y="209550"/>
            <a:ext cx="4191000" cy="4610100"/>
          </a:xfrm>
          <a:prstGeom prst="rect">
            <a:avLst/>
          </a:prstGeom>
        </p:spPr>
      </p:pic>
      <p:pic>
        <p:nvPicPr>
          <p:cNvPr id="7" name="Picture 6">
            <a:extLst>
              <a:ext uri="{FF2B5EF4-FFF2-40B4-BE49-F238E27FC236}">
                <a16:creationId xmlns:a16="http://schemas.microsoft.com/office/drawing/2014/main" id="{2D023D04-DA6D-440B-A95D-ED17EE15C34B}"/>
              </a:ext>
            </a:extLst>
          </p:cNvPr>
          <p:cNvPicPr>
            <a:picLocks noChangeAspect="1"/>
          </p:cNvPicPr>
          <p:nvPr/>
        </p:nvPicPr>
        <p:blipFill>
          <a:blip r:embed="rId3"/>
          <a:stretch>
            <a:fillRect/>
          </a:stretch>
        </p:blipFill>
        <p:spPr>
          <a:xfrm>
            <a:off x="4953000" y="438150"/>
            <a:ext cx="3886200" cy="3267075"/>
          </a:xfrm>
          <a:prstGeom prst="rect">
            <a:avLst/>
          </a:prstGeom>
        </p:spPr>
      </p:pic>
    </p:spTree>
    <p:extLst>
      <p:ext uri="{BB962C8B-B14F-4D97-AF65-F5344CB8AC3E}">
        <p14:creationId xmlns:p14="http://schemas.microsoft.com/office/powerpoint/2010/main" val="372267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EFAA411-03B2-40C1-B77A-711ED427F162}"/>
              </a:ext>
            </a:extLst>
          </p:cNvPr>
          <p:cNvSpPr>
            <a:spLocks noGrp="1" noChangeArrowheads="1"/>
          </p:cNvSpPr>
          <p:nvPr>
            <p:ph idx="1"/>
          </p:nvPr>
        </p:nvSpPr>
        <p:spPr bwMode="auto">
          <a:xfrm>
            <a:off x="457200" y="378628"/>
            <a:ext cx="835356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Font typeface="+mj-lt"/>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Start with Gross Sales Value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total amount the customer buys.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Subtract Discounts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Gives the </a:t>
            </a:r>
            <a:r>
              <a:rPr kumimoji="0" lang="en-US" altLang="en-US" sz="1800" b="1" i="0" u="none" strike="noStrike" cap="none" normalizeH="0" baseline="0" dirty="0">
                <a:ln>
                  <a:noFill/>
                </a:ln>
                <a:solidFill>
                  <a:schemeClr val="tx1"/>
                </a:solidFill>
                <a:effectLst/>
                <a:latin typeface="Arial" panose="020B0604020202020204" pitchFamily="34" charset="0"/>
              </a:rPr>
              <a:t>Net Sales Value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Subtract Direct Production Costs (COGS)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Only costs directly linked to making the product.</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Remove Customer-Specific Distribution Costs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Delivery, special handling, packaging, etc.</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Subtract Other Customer-Related Costs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Credit terms, returns, extra service, complaints handling.</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Avoid allocating general overheads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They are shared and not tied to one customer.</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Net Contribution = Real profitability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If positive, the customer is worth keeping (unless a better opportunity is lost).</a:t>
            </a:r>
          </a:p>
        </p:txBody>
      </p:sp>
    </p:spTree>
    <p:extLst>
      <p:ext uri="{BB962C8B-B14F-4D97-AF65-F5344CB8AC3E}">
        <p14:creationId xmlns:p14="http://schemas.microsoft.com/office/powerpoint/2010/main" val="265536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6CB3-31E2-4519-890D-95293024813F}"/>
              </a:ext>
            </a:extLst>
          </p:cNvPr>
          <p:cNvSpPr>
            <a:spLocks noGrp="1"/>
          </p:cNvSpPr>
          <p:nvPr>
            <p:ph type="title"/>
          </p:nvPr>
        </p:nvSpPr>
        <p:spPr/>
        <p:txBody>
          <a:bodyPr/>
          <a:lstStyle/>
          <a:p>
            <a:r>
              <a:rPr lang="en-US" b="1" dirty="0"/>
              <a:t>Customer Profitability Matrix</a:t>
            </a:r>
            <a:endParaRPr lang="en-US" dirty="0"/>
          </a:p>
        </p:txBody>
      </p:sp>
      <p:sp>
        <p:nvSpPr>
          <p:cNvPr id="3" name="Content Placeholder 2">
            <a:extLst>
              <a:ext uri="{FF2B5EF4-FFF2-40B4-BE49-F238E27FC236}">
                <a16:creationId xmlns:a16="http://schemas.microsoft.com/office/drawing/2014/main" id="{5CDE60D3-9A1A-4614-A8B6-BD07C1BF2124}"/>
              </a:ext>
            </a:extLst>
          </p:cNvPr>
          <p:cNvSpPr>
            <a:spLocks noGrp="1"/>
          </p:cNvSpPr>
          <p:nvPr>
            <p:ph idx="1"/>
          </p:nvPr>
        </p:nvSpPr>
        <p:spPr>
          <a:xfrm>
            <a:off x="0" y="1051321"/>
            <a:ext cx="5334000" cy="3886200"/>
          </a:xfrm>
        </p:spPr>
        <p:txBody>
          <a:bodyPr>
            <a:noAutofit/>
          </a:bodyPr>
          <a:lstStyle/>
          <a:p>
            <a:pPr marL="0" indent="0" algn="just">
              <a:buNone/>
            </a:pPr>
            <a:r>
              <a:rPr lang="en-US" sz="1200" i="1" dirty="0"/>
              <a:t>Categorizes customers along two dimensions: net sales value and cost-to-serve.</a:t>
            </a:r>
            <a:endParaRPr lang="en-US" sz="1200" dirty="0"/>
          </a:p>
          <a:p>
            <a:pPr marL="0" indent="0" algn="just">
              <a:buNone/>
            </a:pPr>
            <a:r>
              <a:rPr lang="en-US" sz="1200" b="1" dirty="0"/>
              <a:t>Quadrants &amp; Strategies:</a:t>
            </a:r>
            <a:endParaRPr lang="en-US" sz="1200" dirty="0"/>
          </a:p>
          <a:p>
            <a:pPr algn="just">
              <a:buFont typeface="+mj-lt"/>
              <a:buAutoNum type="arabicPeriod"/>
            </a:pPr>
            <a:r>
              <a:rPr lang="en-US" sz="1200" b="1" dirty="0"/>
              <a:t>Build</a:t>
            </a:r>
            <a:r>
              <a:rPr lang="en-US" sz="1200" dirty="0"/>
              <a:t> (Low sales, low cost)</a:t>
            </a:r>
          </a:p>
          <a:p>
            <a:pPr marL="742950" lvl="1" indent="-285750" algn="just">
              <a:buFont typeface="+mj-lt"/>
              <a:buAutoNum type="arabicPeriod"/>
            </a:pPr>
            <a:r>
              <a:rPr lang="en-US" sz="1200" dirty="0"/>
              <a:t>Can volume be increased without raising service costs?</a:t>
            </a:r>
          </a:p>
          <a:p>
            <a:pPr marL="742950" lvl="1" indent="-285750" algn="just">
              <a:buFont typeface="+mj-lt"/>
              <a:buAutoNum type="arabicPeriod"/>
            </a:pPr>
            <a:r>
              <a:rPr lang="en-US" sz="1200" dirty="0"/>
              <a:t>Direct sales efforts to influence purchases toward more profitable products.</a:t>
            </a:r>
          </a:p>
          <a:p>
            <a:pPr algn="just">
              <a:buFont typeface="+mj-lt"/>
              <a:buAutoNum type="arabicPeriod"/>
            </a:pPr>
            <a:r>
              <a:rPr lang="en-US" sz="1200" b="1" dirty="0"/>
              <a:t>Danger Zone</a:t>
            </a:r>
            <a:r>
              <a:rPr lang="en-US" sz="1200" dirty="0"/>
              <a:t> (Low sales, high cost)</a:t>
            </a:r>
          </a:p>
          <a:p>
            <a:pPr marL="742950" lvl="1" indent="-285750" algn="just">
              <a:buFont typeface="+mj-lt"/>
              <a:buAutoNum type="arabicPeriod"/>
            </a:pPr>
            <a:r>
              <a:rPr lang="en-US" sz="1200" dirty="0"/>
              <a:t>Assess medium- to long-term potential to improve sales or reduce service costs.</a:t>
            </a:r>
          </a:p>
          <a:p>
            <a:pPr marL="742950" lvl="1" indent="-285750" algn="just">
              <a:buFont typeface="+mj-lt"/>
              <a:buAutoNum type="arabicPeriod"/>
            </a:pPr>
            <a:r>
              <a:rPr lang="en-US" sz="1200" dirty="0"/>
              <a:t>Consider strategic reasons for retaining them (volume, market presence).</a:t>
            </a:r>
          </a:p>
          <a:p>
            <a:pPr algn="just">
              <a:buFont typeface="+mj-lt"/>
              <a:buAutoNum type="arabicPeriod"/>
            </a:pPr>
            <a:r>
              <a:rPr lang="en-US" sz="1200" b="1" dirty="0"/>
              <a:t>Cost Engineer</a:t>
            </a:r>
            <a:r>
              <a:rPr lang="en-US" sz="1200" dirty="0"/>
              <a:t> (High sales, high cost)</a:t>
            </a:r>
          </a:p>
          <a:p>
            <a:pPr marL="742950" lvl="1" indent="-285750" algn="just">
              <a:buFont typeface="+mj-lt"/>
              <a:buAutoNum type="arabicPeriod"/>
            </a:pPr>
            <a:r>
              <a:rPr lang="en-US" sz="1200" dirty="0"/>
              <a:t>Explore ways to reduce service costs (consolidate deliveries, larger order sizes, online orders).</a:t>
            </a:r>
          </a:p>
          <a:p>
            <a:pPr marL="742950" lvl="1" indent="-285750" algn="just">
              <a:buFont typeface="+mj-lt"/>
              <a:buAutoNum type="arabicPeriod"/>
            </a:pPr>
            <a:r>
              <a:rPr lang="en-US" sz="1200" dirty="0"/>
              <a:t>Develop nearby accounts to improve delivery efficiency.</a:t>
            </a:r>
          </a:p>
          <a:p>
            <a:pPr algn="just">
              <a:buFont typeface="+mj-lt"/>
              <a:buAutoNum type="arabicPeriod"/>
            </a:pPr>
            <a:r>
              <a:rPr lang="en-US" sz="1200" b="1" dirty="0"/>
              <a:t>Protect</a:t>
            </a:r>
            <a:r>
              <a:rPr lang="en-US" sz="1200" dirty="0"/>
              <a:t> (High sales, low cost)</a:t>
            </a:r>
          </a:p>
          <a:p>
            <a:pPr marL="742950" lvl="1" indent="-285750" algn="just">
              <a:buFont typeface="+mj-lt"/>
              <a:buAutoNum type="arabicPeriod"/>
            </a:pPr>
            <a:r>
              <a:rPr lang="en-US" sz="1200" dirty="0"/>
              <a:t>Maintain strong relationships to reduce switching risk.</a:t>
            </a:r>
          </a:p>
          <a:p>
            <a:pPr marL="742950" lvl="1" indent="-285750" algn="just">
              <a:buFont typeface="+mj-lt"/>
              <a:buAutoNum type="arabicPeriod"/>
            </a:pPr>
            <a:r>
              <a:rPr lang="en-US" sz="1200" dirty="0"/>
              <a:t>Increase business volume while controlling costs.</a:t>
            </a:r>
          </a:p>
          <a:p>
            <a:pPr marL="0" indent="0" algn="just">
              <a:buNone/>
            </a:pPr>
            <a:endParaRPr lang="en-US" sz="1200" b="1" dirty="0"/>
          </a:p>
        </p:txBody>
      </p:sp>
      <p:pic>
        <p:nvPicPr>
          <p:cNvPr id="5" name="Picture 4">
            <a:extLst>
              <a:ext uri="{FF2B5EF4-FFF2-40B4-BE49-F238E27FC236}">
                <a16:creationId xmlns:a16="http://schemas.microsoft.com/office/drawing/2014/main" id="{4FD033B7-5F09-4E80-BCCF-85EE4E56C24C}"/>
              </a:ext>
            </a:extLst>
          </p:cNvPr>
          <p:cNvPicPr>
            <a:picLocks noChangeAspect="1"/>
          </p:cNvPicPr>
          <p:nvPr/>
        </p:nvPicPr>
        <p:blipFill>
          <a:blip r:embed="rId2"/>
          <a:stretch>
            <a:fillRect/>
          </a:stretch>
        </p:blipFill>
        <p:spPr>
          <a:xfrm>
            <a:off x="5401937" y="1428463"/>
            <a:ext cx="3733800" cy="2847975"/>
          </a:xfrm>
          <a:prstGeom prst="rect">
            <a:avLst/>
          </a:prstGeom>
        </p:spPr>
      </p:pic>
    </p:spTree>
    <p:extLst>
      <p:ext uri="{BB962C8B-B14F-4D97-AF65-F5344CB8AC3E}">
        <p14:creationId xmlns:p14="http://schemas.microsoft.com/office/powerpoint/2010/main" val="2216376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B267E-B05E-4216-AA57-37DB59921CD9}"/>
              </a:ext>
            </a:extLst>
          </p:cNvPr>
          <p:cNvSpPr>
            <a:spLocks noGrp="1"/>
          </p:cNvSpPr>
          <p:nvPr>
            <p:ph type="title"/>
          </p:nvPr>
        </p:nvSpPr>
        <p:spPr>
          <a:xfrm>
            <a:off x="381000" y="230"/>
            <a:ext cx="8229600" cy="765571"/>
          </a:xfrm>
        </p:spPr>
        <p:txBody>
          <a:bodyPr/>
          <a:lstStyle/>
          <a:p>
            <a:r>
              <a:rPr lang="en-US" dirty="0"/>
              <a:t>Direct product profitability</a:t>
            </a:r>
          </a:p>
        </p:txBody>
      </p:sp>
      <p:sp>
        <p:nvSpPr>
          <p:cNvPr id="3" name="Content Placeholder 2">
            <a:extLst>
              <a:ext uri="{FF2B5EF4-FFF2-40B4-BE49-F238E27FC236}">
                <a16:creationId xmlns:a16="http://schemas.microsoft.com/office/drawing/2014/main" id="{600DFF35-FC6B-4236-9048-5C512B1FAAE8}"/>
              </a:ext>
            </a:extLst>
          </p:cNvPr>
          <p:cNvSpPr>
            <a:spLocks noGrp="1"/>
          </p:cNvSpPr>
          <p:nvPr>
            <p:ph idx="1"/>
          </p:nvPr>
        </p:nvSpPr>
        <p:spPr>
          <a:xfrm>
            <a:off x="152400" y="765800"/>
            <a:ext cx="4495800" cy="4015749"/>
          </a:xfrm>
        </p:spPr>
        <p:txBody>
          <a:bodyPr>
            <a:normAutofit fontScale="85000" lnSpcReduction="10000"/>
          </a:bodyPr>
          <a:lstStyle/>
          <a:p>
            <a:pPr marL="0" marR="0" indent="0" algn="just">
              <a:buNone/>
            </a:pPr>
            <a:r>
              <a:rPr lang="en-US" sz="1800" dirty="0">
                <a:effectLst/>
                <a:latin typeface="Symbol" panose="05050102010706020507" pitchFamily="18" charset="2"/>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Definition:</a:t>
            </a:r>
            <a:r>
              <a:rPr lang="en-US" sz="1800" dirty="0">
                <a:effectLst/>
                <a:latin typeface="Times New Roman" panose="02020603050405020304" pitchFamily="18" charset="0"/>
                <a:ea typeface="Times New Roman" panose="02020603050405020304" pitchFamily="18" charset="0"/>
              </a:rPr>
              <a:t> A logistics cost analysis technique that identifies all costs associated with a product or order as it moves through the distribution channel.</a:t>
            </a:r>
          </a:p>
          <a:p>
            <a:pPr marL="0" marR="0" indent="0" algn="just">
              <a:buNone/>
            </a:pPr>
            <a:r>
              <a:rPr lang="en-US" sz="1800" dirty="0">
                <a:effectLst/>
                <a:latin typeface="Symbol" panose="05050102010706020507" pitchFamily="18" charset="2"/>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Analogy:</a:t>
            </a:r>
            <a:r>
              <a:rPr lang="en-US" sz="1800" dirty="0">
                <a:effectLst/>
                <a:latin typeface="Times New Roman" panose="02020603050405020304" pitchFamily="18" charset="0"/>
                <a:ea typeface="Times New Roman" panose="02020603050405020304" pitchFamily="18" charset="0"/>
              </a:rPr>
              <a:t> Similar to </a:t>
            </a:r>
            <a:r>
              <a:rPr lang="en-US" sz="1800" b="1" dirty="0">
                <a:effectLst/>
                <a:latin typeface="Times New Roman" panose="02020603050405020304" pitchFamily="18" charset="0"/>
                <a:ea typeface="Times New Roman" panose="02020603050405020304" pitchFamily="18" charset="0"/>
              </a:rPr>
              <a:t>customer profitability analysis</a:t>
            </a:r>
            <a:r>
              <a:rPr lang="en-US" sz="1800" dirty="0">
                <a:effectLst/>
                <a:latin typeface="Times New Roman" panose="02020603050405020304" pitchFamily="18" charset="0"/>
                <a:ea typeface="Times New Roman" panose="02020603050405020304" pitchFamily="18" charset="0"/>
              </a:rPr>
              <a:t>, but focuses on products instead of customers.</a:t>
            </a:r>
          </a:p>
          <a:p>
            <a:pPr marL="0" marR="0" indent="0" algn="just">
              <a:buNone/>
            </a:pPr>
            <a:r>
              <a:rPr lang="en-US" sz="1800" dirty="0">
                <a:effectLst/>
                <a:latin typeface="Symbol" panose="05050102010706020507" pitchFamily="18" charset="2"/>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Purpose:</a:t>
            </a:r>
            <a:r>
              <a:rPr lang="en-US" sz="1800" dirty="0">
                <a:effectLst/>
                <a:latin typeface="Times New Roman" panose="02020603050405020304" pitchFamily="18" charset="0"/>
                <a:ea typeface="Times New Roman" panose="02020603050405020304" pitchFamily="18" charset="0"/>
              </a:rPr>
              <a:t> Reveals the </a:t>
            </a:r>
            <a:r>
              <a:rPr lang="en-US" sz="1800" b="1" dirty="0">
                <a:effectLst/>
                <a:latin typeface="Times New Roman" panose="02020603050405020304" pitchFamily="18" charset="0"/>
                <a:ea typeface="Times New Roman" panose="02020603050405020304" pitchFamily="18" charset="0"/>
              </a:rPr>
              <a:t>total cost of ownership</a:t>
            </a:r>
            <a:r>
              <a:rPr lang="en-US" sz="1800" dirty="0">
                <a:effectLst/>
                <a:latin typeface="Times New Roman" panose="02020603050405020304" pitchFamily="18" charset="0"/>
                <a:ea typeface="Times New Roman" panose="02020603050405020304" pitchFamily="18" charset="0"/>
              </a:rPr>
              <a:t> beyond the purchase price, including hidden or indirect costs.</a:t>
            </a:r>
          </a:p>
          <a:p>
            <a:pPr marL="0" marR="0" indent="0" algn="just">
              <a:buNone/>
            </a:pPr>
            <a:r>
              <a:rPr lang="en-US" sz="1800" dirty="0">
                <a:effectLst/>
                <a:latin typeface="Symbol" panose="05050102010706020507" pitchFamily="18" charset="2"/>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Significance:</a:t>
            </a:r>
            <a:r>
              <a:rPr lang="en-US" sz="1800" dirty="0">
                <a:effectLst/>
                <a:latin typeface="Times New Roman" panose="02020603050405020304" pitchFamily="18" charset="0"/>
                <a:ea typeface="Times New Roman" panose="02020603050405020304" pitchFamily="18" charset="0"/>
              </a:rPr>
              <a:t> Hidden costs can be substantial, potentially reducing or even eliminating the net profit of an item.</a:t>
            </a:r>
          </a:p>
          <a:p>
            <a:pPr marR="0" algn="jus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Application:</a:t>
            </a:r>
            <a:r>
              <a:rPr lang="en-US" sz="1800" dirty="0">
                <a:effectLst/>
                <a:latin typeface="Times New Roman" panose="02020603050405020304" pitchFamily="18" charset="0"/>
                <a:ea typeface="Times New Roman" panose="02020603050405020304" pitchFamily="18" charset="0"/>
              </a:rPr>
              <a:t> Widely used in the </a:t>
            </a:r>
            <a:r>
              <a:rPr lang="en-US" sz="1800" b="1" dirty="0">
                <a:effectLst/>
                <a:latin typeface="Times New Roman" panose="02020603050405020304" pitchFamily="18" charset="0"/>
                <a:ea typeface="Times New Roman" panose="02020603050405020304" pitchFamily="18" charset="0"/>
              </a:rPr>
              <a:t>retail industry</a:t>
            </a:r>
            <a:r>
              <a:rPr lang="en-US" sz="1800" dirty="0">
                <a:effectLst/>
                <a:latin typeface="Times New Roman" panose="02020603050405020304" pitchFamily="18" charset="0"/>
                <a:ea typeface="Times New Roman" panose="02020603050405020304" pitchFamily="18" charset="0"/>
              </a:rPr>
              <a:t> to make informed product and pricing decisions.</a:t>
            </a:r>
          </a:p>
          <a:p>
            <a:pPr marL="0" marR="0" indent="0">
              <a:buNone/>
            </a:pPr>
            <a:r>
              <a:rPr lang="en-US" sz="1800" dirty="0">
                <a:effectLst/>
                <a:latin typeface="Symbol" panose="05050102010706020507" pitchFamily="18" charset="2"/>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Importance:</a:t>
            </a:r>
            <a:r>
              <a:rPr lang="en-US" sz="1800" dirty="0">
                <a:effectLst/>
                <a:latin typeface="Times New Roman" panose="02020603050405020304" pitchFamily="18" charset="0"/>
                <a:ea typeface="Times New Roman" panose="02020603050405020304" pitchFamily="18" charset="0"/>
              </a:rPr>
              <a:t> Understanding DPP helps suppliers assess their ability to be </a:t>
            </a:r>
            <a:r>
              <a:rPr lang="en-US" sz="1800" b="1" dirty="0">
                <a:effectLst/>
                <a:latin typeface="Times New Roman" panose="02020603050405020304" pitchFamily="18" charset="0"/>
                <a:ea typeface="Times New Roman" panose="02020603050405020304" pitchFamily="18" charset="0"/>
              </a:rPr>
              <a:t>low-cost providers</a:t>
            </a:r>
            <a:r>
              <a:rPr lang="en-US" sz="1800" dirty="0">
                <a:effectLst/>
                <a:latin typeface="Times New Roman" panose="02020603050405020304" pitchFamily="18" charset="0"/>
                <a:ea typeface="Times New Roman" panose="02020603050405020304" pitchFamily="18" charset="0"/>
              </a:rPr>
              <a:t>.</a:t>
            </a:r>
          </a:p>
          <a:p>
            <a:pPr marL="0" marR="0" indent="0">
              <a:buNone/>
            </a:pPr>
            <a:r>
              <a:rPr lang="en-US" sz="1800" dirty="0">
                <a:effectLst/>
                <a:latin typeface="Symbol" panose="05050102010706020507" pitchFamily="18" charset="2"/>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Influence:</a:t>
            </a:r>
            <a:r>
              <a:rPr lang="en-US" sz="1800" dirty="0">
                <a:effectLst/>
                <a:latin typeface="Times New Roman" panose="02020603050405020304" pitchFamily="18" charset="0"/>
                <a:ea typeface="Times New Roman" panose="02020603050405020304" pitchFamily="18" charset="0"/>
              </a:rPr>
              <a:t> Costs incurred along the logistics chain directly affect DPP and competitive positioning.</a:t>
            </a:r>
          </a:p>
          <a:p>
            <a:pPr marL="0" marR="0" indent="0" algn="just">
              <a:buNone/>
            </a:pPr>
            <a:endParaRPr lang="en-US" sz="1800" dirty="0">
              <a:effectLst/>
              <a:latin typeface="Times New Roman" panose="02020603050405020304" pitchFamily="18" charset="0"/>
              <a:ea typeface="Times New Roman" panose="02020603050405020304" pitchFamily="18" charset="0"/>
            </a:endParaRPr>
          </a:p>
          <a:p>
            <a:pPr marL="0" indent="0" algn="just">
              <a:buNone/>
            </a:pPr>
            <a:endParaRPr lang="en-US" dirty="0"/>
          </a:p>
        </p:txBody>
      </p:sp>
      <p:pic>
        <p:nvPicPr>
          <p:cNvPr id="6" name="Picture 5">
            <a:extLst>
              <a:ext uri="{FF2B5EF4-FFF2-40B4-BE49-F238E27FC236}">
                <a16:creationId xmlns:a16="http://schemas.microsoft.com/office/drawing/2014/main" id="{4247B39A-F54F-429E-854E-136C0F378A68}"/>
              </a:ext>
            </a:extLst>
          </p:cNvPr>
          <p:cNvPicPr>
            <a:picLocks noChangeAspect="1"/>
          </p:cNvPicPr>
          <p:nvPr/>
        </p:nvPicPr>
        <p:blipFill>
          <a:blip r:embed="rId2"/>
          <a:stretch>
            <a:fillRect/>
          </a:stretch>
        </p:blipFill>
        <p:spPr>
          <a:xfrm>
            <a:off x="4724399" y="590551"/>
            <a:ext cx="4375073" cy="3810000"/>
          </a:xfrm>
          <a:prstGeom prst="rect">
            <a:avLst/>
          </a:prstGeom>
        </p:spPr>
      </p:pic>
    </p:spTree>
    <p:extLst>
      <p:ext uri="{BB962C8B-B14F-4D97-AF65-F5344CB8AC3E}">
        <p14:creationId xmlns:p14="http://schemas.microsoft.com/office/powerpoint/2010/main" val="846125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4A6E-F24E-40D7-B0AB-1D1C25DCFE31}"/>
              </a:ext>
            </a:extLst>
          </p:cNvPr>
          <p:cNvSpPr>
            <a:spLocks noGrp="1"/>
          </p:cNvSpPr>
          <p:nvPr>
            <p:ph type="title"/>
          </p:nvPr>
        </p:nvSpPr>
        <p:spPr>
          <a:xfrm>
            <a:off x="190500" y="133350"/>
            <a:ext cx="8763000" cy="613171"/>
          </a:xfrm>
        </p:spPr>
        <p:txBody>
          <a:bodyPr>
            <a:normAutofit fontScale="90000"/>
          </a:bodyPr>
          <a:lstStyle/>
          <a:p>
            <a:r>
              <a:rPr lang="en-US" b="1" dirty="0"/>
              <a:t>Cost drivers and activity-based costing</a:t>
            </a:r>
          </a:p>
        </p:txBody>
      </p:sp>
      <p:sp>
        <p:nvSpPr>
          <p:cNvPr id="3" name="Content Placeholder 2">
            <a:extLst>
              <a:ext uri="{FF2B5EF4-FFF2-40B4-BE49-F238E27FC236}">
                <a16:creationId xmlns:a16="http://schemas.microsoft.com/office/drawing/2014/main" id="{AD90C4C7-756C-4A0C-AE4B-D9F07A13E4BF}"/>
              </a:ext>
            </a:extLst>
          </p:cNvPr>
          <p:cNvSpPr>
            <a:spLocks noGrp="1"/>
          </p:cNvSpPr>
          <p:nvPr>
            <p:ph idx="1"/>
          </p:nvPr>
        </p:nvSpPr>
        <p:spPr>
          <a:xfrm>
            <a:off x="76200" y="819150"/>
            <a:ext cx="4266663" cy="4191000"/>
          </a:xfrm>
        </p:spPr>
        <p:txBody>
          <a:bodyPr>
            <a:normAutofit lnSpcReduction="10000"/>
          </a:bodyPr>
          <a:lstStyle/>
          <a:p>
            <a:pPr marL="0" marR="0"/>
            <a:r>
              <a:rPr lang="en-US" sz="1800" b="1" dirty="0">
                <a:effectLst/>
                <a:latin typeface="Times New Roman" panose="02020603050405020304" pitchFamily="18" charset="0"/>
                <a:ea typeface="Times New Roman" panose="02020603050405020304" pitchFamily="18" charset="0"/>
              </a:rPr>
              <a:t>Conventional Cost Accounting Issues:</a:t>
            </a:r>
            <a:endParaRPr lang="en-US" sz="1800" dirty="0">
              <a:effectLst/>
              <a:latin typeface="Times New Roman" panose="02020603050405020304" pitchFamily="18" charset="0"/>
              <a:ea typeface="Times New Roman" panose="02020603050405020304" pitchFamily="18" charset="0"/>
            </a:endParaRP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Poor visibility of true customer/service costs</a:t>
            </a: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High-level aggregation and arbitrary allocations</a:t>
            </a: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Function-oriented, not output-oriented</a:t>
            </a:r>
          </a:p>
          <a:p>
            <a:pPr marL="0" marR="0"/>
            <a:r>
              <a:rPr lang="en-US" sz="1800" b="1" dirty="0">
                <a:effectLst/>
                <a:latin typeface="Times New Roman" panose="02020603050405020304" pitchFamily="18" charset="0"/>
                <a:ea typeface="Times New Roman" panose="02020603050405020304" pitchFamily="18" charset="0"/>
              </a:rPr>
              <a:t>Solution – Activity-Based Costing (ABC):</a:t>
            </a:r>
            <a:endParaRPr lang="en-US" sz="1800" dirty="0">
              <a:effectLst/>
              <a:latin typeface="Times New Roman" panose="02020603050405020304" pitchFamily="18" charset="0"/>
              <a:ea typeface="Times New Roman" panose="02020603050405020304" pitchFamily="18" charset="0"/>
            </a:endParaRP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Allocates costs based on </a:t>
            </a:r>
            <a:r>
              <a:rPr lang="en-US" sz="1400" b="1" dirty="0">
                <a:effectLst/>
                <a:latin typeface="Times New Roman" panose="02020603050405020304" pitchFamily="18" charset="0"/>
                <a:ea typeface="Times New Roman" panose="02020603050405020304" pitchFamily="18" charset="0"/>
              </a:rPr>
              <a:t>activities and cost drivers</a:t>
            </a:r>
            <a:endParaRPr lang="en-US" sz="1400" dirty="0">
              <a:effectLst/>
              <a:latin typeface="Times New Roman" panose="02020603050405020304" pitchFamily="18" charset="0"/>
              <a:ea typeface="Times New Roman" panose="02020603050405020304" pitchFamily="18" charset="0"/>
            </a:endParaRP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Reflects </a:t>
            </a:r>
            <a:r>
              <a:rPr lang="en-US" sz="1400" b="1" dirty="0">
                <a:effectLst/>
                <a:latin typeface="Times New Roman" panose="02020603050405020304" pitchFamily="18" charset="0"/>
                <a:ea typeface="Times New Roman" panose="02020603050405020304" pitchFamily="18" charset="0"/>
              </a:rPr>
              <a:t>unique customer behaviors</a:t>
            </a:r>
            <a:r>
              <a:rPr lang="en-US" sz="1400" dirty="0">
                <a:effectLst/>
                <a:latin typeface="Times New Roman" panose="02020603050405020304" pitchFamily="18" charset="0"/>
                <a:ea typeface="Times New Roman" panose="02020603050405020304" pitchFamily="18" charset="0"/>
              </a:rPr>
              <a:t> and distribution requirements</a:t>
            </a: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Provides </a:t>
            </a:r>
            <a:r>
              <a:rPr lang="en-US" sz="1400" b="1" dirty="0">
                <a:effectLst/>
                <a:latin typeface="Times New Roman" panose="02020603050405020304" pitchFamily="18" charset="0"/>
                <a:ea typeface="Times New Roman" panose="02020603050405020304" pitchFamily="18" charset="0"/>
              </a:rPr>
              <a:t>accurate cost-to-serve information</a:t>
            </a:r>
            <a:endParaRPr lang="en-US" sz="1400" dirty="0">
              <a:effectLst/>
              <a:latin typeface="Times New Roman" panose="02020603050405020304" pitchFamily="18" charset="0"/>
              <a:ea typeface="Times New Roman" panose="02020603050405020304" pitchFamily="18" charset="0"/>
            </a:endParaRPr>
          </a:p>
          <a:p>
            <a:pPr marL="0" marR="0"/>
            <a:r>
              <a:rPr lang="en-US" sz="1800" b="1" dirty="0">
                <a:effectLst/>
                <a:latin typeface="Times New Roman" panose="02020603050405020304" pitchFamily="18" charset="0"/>
                <a:ea typeface="Times New Roman" panose="02020603050405020304" pitchFamily="18" charset="0"/>
              </a:rPr>
              <a:t>Mission Costing:</a:t>
            </a:r>
            <a:endParaRPr lang="en-US" sz="1800" dirty="0">
              <a:effectLst/>
              <a:latin typeface="Times New Roman" panose="02020603050405020304" pitchFamily="18" charset="0"/>
              <a:ea typeface="Times New Roman" panose="02020603050405020304" pitchFamily="18" charset="0"/>
            </a:endParaRP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Identifies costs from </a:t>
            </a:r>
            <a:r>
              <a:rPr lang="en-US" sz="1400" b="1" dirty="0">
                <a:effectLst/>
                <a:latin typeface="Times New Roman" panose="02020603050405020304" pitchFamily="18" charset="0"/>
                <a:ea typeface="Times New Roman" panose="02020603050405020304" pitchFamily="18" charset="0"/>
              </a:rPr>
              <a:t>specific service strategies</a:t>
            </a:r>
            <a:endParaRPr lang="en-US" sz="1400" dirty="0">
              <a:effectLst/>
              <a:latin typeface="Times New Roman" panose="02020603050405020304" pitchFamily="18" charset="0"/>
              <a:ea typeface="Times New Roman" panose="02020603050405020304" pitchFamily="18" charset="0"/>
            </a:endParaRPr>
          </a:p>
          <a:p>
            <a:pPr lvl="1" indent="-342900">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Ensures </a:t>
            </a:r>
            <a:r>
              <a:rPr lang="en-US" sz="1400" b="1" dirty="0">
                <a:effectLst/>
                <a:latin typeface="Times New Roman" panose="02020603050405020304" pitchFamily="18" charset="0"/>
                <a:ea typeface="Times New Roman" panose="02020603050405020304" pitchFamily="18" charset="0"/>
              </a:rPr>
              <a:t>incremental costs match incremental benefits</a:t>
            </a:r>
            <a:endParaRPr lang="en-US" sz="1400"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8A85F483-EBF8-4A2E-BBB6-3B7F514EC8E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3968"/>
          <a:stretch/>
        </p:blipFill>
        <p:spPr>
          <a:xfrm>
            <a:off x="4457163" y="971371"/>
            <a:ext cx="4610637" cy="3200758"/>
          </a:xfrm>
          <a:prstGeom prst="rect">
            <a:avLst/>
          </a:prstGeom>
        </p:spPr>
      </p:pic>
    </p:spTree>
    <p:extLst>
      <p:ext uri="{BB962C8B-B14F-4D97-AF65-F5344CB8AC3E}">
        <p14:creationId xmlns:p14="http://schemas.microsoft.com/office/powerpoint/2010/main" val="4208234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8DE953-8645-4188-833D-2C2F4F02CA13}"/>
              </a:ext>
            </a:extLst>
          </p:cNvPr>
          <p:cNvSpPr>
            <a:spLocks noGrp="1"/>
          </p:cNvSpPr>
          <p:nvPr>
            <p:ph idx="1"/>
          </p:nvPr>
        </p:nvSpPr>
        <p:spPr>
          <a:xfrm>
            <a:off x="228600" y="0"/>
            <a:ext cx="8763000" cy="4554737"/>
          </a:xfrm>
        </p:spPr>
        <p:txBody>
          <a:bodyPr>
            <a:noAutofit/>
          </a:bodyPr>
          <a:lstStyle/>
          <a:p>
            <a:pPr algn="l"/>
            <a:r>
              <a:rPr lang="en-US" sz="1400" b="0" i="0" u="none" strike="noStrike" baseline="0" dirty="0">
                <a:latin typeface="Times New Roman" panose="02020603050405020304" pitchFamily="18" charset="0"/>
                <a:cs typeface="Times New Roman" panose="02020603050405020304" pitchFamily="18" charset="0"/>
              </a:rPr>
              <a:t>There are four stages in the implementation of an effective mission costing process:</a:t>
            </a:r>
          </a:p>
          <a:p>
            <a:pPr marL="0" indent="0" algn="l">
              <a:buNone/>
            </a:pP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1 Define the customer service segment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Use the methodology described in Chapter 2 to identify the different service needs of different customer types. The basic principle is that because not all customers share the same service requirements and characteristics they should be treated differently.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2 Identify the factors that produce variations in the cost of service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This step involves the determination of the service elements that will directly or indirectly impact upon the costs of service, e.g. the product mix, the delivery characteristics such as drop size and frequency or incidence of direct deliveries, merchandising support, special packs and so on.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3 Identify the specific resources used to support customer segments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This is the point at which the principles of activity-based costing and mission costing coincide. The basic tenet of ABC is that the activities that generate cost should be defined and the specific cost drivers involved identified. These may be the number of lines on an order, the people involved, the inventory support or the delivery frequency.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4 Attribute activity costs by customer type or segment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Using the principle of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avoidability</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the incremental costs incurred through the application of a specific resource to meeting service needs are attributed to customers. It must be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emphasised</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that this is not cost allocation but cost attribution. In other words it is because customers use resources that the appropriate share of cost is attributed to them.</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82386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642</TotalTime>
  <Words>1157</Words>
  <Application>Microsoft Office PowerPoint</Application>
  <PresentationFormat>On-screen Show (16:9)</PresentationFormat>
  <Paragraphs>95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Symbol</vt:lpstr>
      <vt:lpstr>Times New Roman</vt:lpstr>
      <vt:lpstr>Office Theme</vt:lpstr>
      <vt:lpstr>PowerPoint Presentation</vt:lpstr>
      <vt:lpstr>PowerPoint Presentation</vt:lpstr>
      <vt:lpstr>Customer profitability analysis</vt:lpstr>
      <vt:lpstr>PowerPoint Presentation</vt:lpstr>
      <vt:lpstr>PowerPoint Presentation</vt:lpstr>
      <vt:lpstr>PowerPoint Presentation</vt:lpstr>
      <vt:lpstr>PowerPoint Presentation</vt:lpstr>
      <vt:lpstr>Customer Profitability Matrix</vt:lpstr>
      <vt:lpstr>Direct product profitability</vt:lpstr>
      <vt:lpstr>Cost drivers and activity-based costing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ANZAR</dc:creator>
  <cp:lastModifiedBy>Syed Rehan Ashraf</cp:lastModifiedBy>
  <cp:revision>27</cp:revision>
  <dcterms:created xsi:type="dcterms:W3CDTF">2020-07-28T21:31:04Z</dcterms:created>
  <dcterms:modified xsi:type="dcterms:W3CDTF">2025-11-19T11:04:51Z</dcterms:modified>
</cp:coreProperties>
</file>